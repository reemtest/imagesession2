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22"/>
  </p:notesMasterIdLst>
  <p:sldIdLst>
    <p:sldId id="305" r:id="rId5"/>
    <p:sldId id="311" r:id="rId6"/>
    <p:sldId id="330" r:id="rId7"/>
    <p:sldId id="319" r:id="rId8"/>
    <p:sldId id="326" r:id="rId9"/>
    <p:sldId id="313" r:id="rId10"/>
    <p:sldId id="325" r:id="rId11"/>
    <p:sldId id="322" r:id="rId12"/>
    <p:sldId id="321" r:id="rId13"/>
    <p:sldId id="327" r:id="rId14"/>
    <p:sldId id="335" r:id="rId15"/>
    <p:sldId id="328" r:id="rId16"/>
    <p:sldId id="329" r:id="rId17"/>
    <p:sldId id="332" r:id="rId18"/>
    <p:sldId id="331" r:id="rId19"/>
    <p:sldId id="333" r:id="rId20"/>
    <p:sldId id="334"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6699"/>
    <a:srgbClr val="53B7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7F5704B-84EA-42A6-9A59-80126CD6AD14}" v="1" dt="2024-08-30T22:58:07.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689" autoAdjust="0"/>
    <p:restoredTop sz="94619" autoAdjust="0"/>
  </p:normalViewPr>
  <p:slideViewPr>
    <p:cSldViewPr snapToGrid="0">
      <p:cViewPr varScale="1">
        <p:scale>
          <a:sx n="49" d="100"/>
          <a:sy n="49" d="100"/>
        </p:scale>
        <p:origin x="67" y="6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em ahmed" userId="3e93c4aea066c3e4" providerId="LiveId" clId="{57F5704B-84EA-42A6-9A59-80126CD6AD14}"/>
    <pc:docChg chg="custSel addSld delSld modSld">
      <pc:chgData name="reem ahmed" userId="3e93c4aea066c3e4" providerId="LiveId" clId="{57F5704B-84EA-42A6-9A59-80126CD6AD14}" dt="2024-08-30T23:19:39.764" v="375" actId="14100"/>
      <pc:docMkLst>
        <pc:docMk/>
      </pc:docMkLst>
      <pc:sldChg chg="modSp mod">
        <pc:chgData name="reem ahmed" userId="3e93c4aea066c3e4" providerId="LiveId" clId="{57F5704B-84EA-42A6-9A59-80126CD6AD14}" dt="2024-08-30T23:19:39.764" v="375" actId="14100"/>
        <pc:sldMkLst>
          <pc:docMk/>
          <pc:sldMk cId="4064033272" sldId="313"/>
        </pc:sldMkLst>
        <pc:spChg chg="mod">
          <ac:chgData name="reem ahmed" userId="3e93c4aea066c3e4" providerId="LiveId" clId="{57F5704B-84EA-42A6-9A59-80126CD6AD14}" dt="2024-08-30T23:19:26.336" v="371" actId="20577"/>
          <ac:spMkLst>
            <pc:docMk/>
            <pc:sldMk cId="4064033272" sldId="313"/>
            <ac:spMk id="2" creationId="{5058B3D7-EEC3-0754-8A97-F75DD616ADA2}"/>
          </ac:spMkLst>
        </pc:spChg>
        <pc:spChg chg="mod">
          <ac:chgData name="reem ahmed" userId="3e93c4aea066c3e4" providerId="LiveId" clId="{57F5704B-84EA-42A6-9A59-80126CD6AD14}" dt="2024-08-30T23:19:39.764" v="375" actId="14100"/>
          <ac:spMkLst>
            <pc:docMk/>
            <pc:sldMk cId="4064033272" sldId="313"/>
            <ac:spMk id="9" creationId="{9183A510-1093-9977-7BB9-0BA695DEE914}"/>
          </ac:spMkLst>
        </pc:spChg>
        <pc:picChg chg="mod">
          <ac:chgData name="reem ahmed" userId="3e93c4aea066c3e4" providerId="LiveId" clId="{57F5704B-84EA-42A6-9A59-80126CD6AD14}" dt="2024-08-30T23:19:33.065" v="373" actId="1076"/>
          <ac:picMkLst>
            <pc:docMk/>
            <pc:sldMk cId="4064033272" sldId="313"/>
            <ac:picMk id="6" creationId="{E424216D-7A02-A3B3-89F7-B06B460AE639}"/>
          </ac:picMkLst>
        </pc:picChg>
        <pc:picChg chg="mod">
          <ac:chgData name="reem ahmed" userId="3e93c4aea066c3e4" providerId="LiveId" clId="{57F5704B-84EA-42A6-9A59-80126CD6AD14}" dt="2024-08-30T23:19:31.313" v="372" actId="1076"/>
          <ac:picMkLst>
            <pc:docMk/>
            <pc:sldMk cId="4064033272" sldId="313"/>
            <ac:picMk id="14" creationId="{808839A0-EEA2-6AEF-F9F9-B201797DBDDB}"/>
          </ac:picMkLst>
        </pc:picChg>
      </pc:sldChg>
      <pc:sldChg chg="modSp mod">
        <pc:chgData name="reem ahmed" userId="3e93c4aea066c3e4" providerId="LiveId" clId="{57F5704B-84EA-42A6-9A59-80126CD6AD14}" dt="2024-08-30T23:18:46.253" v="364"/>
        <pc:sldMkLst>
          <pc:docMk/>
          <pc:sldMk cId="2179194926" sldId="325"/>
        </pc:sldMkLst>
        <pc:spChg chg="mod">
          <ac:chgData name="reem ahmed" userId="3e93c4aea066c3e4" providerId="LiveId" clId="{57F5704B-84EA-42A6-9A59-80126CD6AD14}" dt="2024-08-30T23:18:46.253" v="364"/>
          <ac:spMkLst>
            <pc:docMk/>
            <pc:sldMk cId="2179194926" sldId="325"/>
            <ac:spMk id="3" creationId="{89A41DA3-06E4-3CE4-F64D-E5BB0D7AC1FA}"/>
          </ac:spMkLst>
        </pc:spChg>
      </pc:sldChg>
      <pc:sldChg chg="addSp delSp modSp mod">
        <pc:chgData name="reem ahmed" userId="3e93c4aea066c3e4" providerId="LiveId" clId="{57F5704B-84EA-42A6-9A59-80126CD6AD14}" dt="2024-08-30T22:59:53.035" v="18" actId="20577"/>
        <pc:sldMkLst>
          <pc:docMk/>
          <pc:sldMk cId="3551650812" sldId="332"/>
        </pc:sldMkLst>
        <pc:spChg chg="mod">
          <ac:chgData name="reem ahmed" userId="3e93c4aea066c3e4" providerId="LiveId" clId="{57F5704B-84EA-42A6-9A59-80126CD6AD14}" dt="2024-08-30T22:59:53.035" v="18" actId="20577"/>
          <ac:spMkLst>
            <pc:docMk/>
            <pc:sldMk cId="3551650812" sldId="332"/>
            <ac:spMk id="3" creationId="{872A9314-0784-24D5-5170-4BB9AC8E4C7C}"/>
          </ac:spMkLst>
        </pc:spChg>
        <pc:picChg chg="add mod">
          <ac:chgData name="reem ahmed" userId="3e93c4aea066c3e4" providerId="LiveId" clId="{57F5704B-84EA-42A6-9A59-80126CD6AD14}" dt="2024-08-30T22:58:09.912" v="13" actId="1076"/>
          <ac:picMkLst>
            <pc:docMk/>
            <pc:sldMk cId="3551650812" sldId="332"/>
            <ac:picMk id="5" creationId="{CC577B33-C435-EF52-3A08-14540C493F06}"/>
          </ac:picMkLst>
        </pc:picChg>
        <pc:inkChg chg="del">
          <ac:chgData name="reem ahmed" userId="3e93c4aea066c3e4" providerId="LiveId" clId="{57F5704B-84EA-42A6-9A59-80126CD6AD14}" dt="2024-08-30T22:58:40.997" v="15" actId="21"/>
          <ac:inkMkLst>
            <pc:docMk/>
            <pc:sldMk cId="3551650812" sldId="332"/>
            <ac:inkMk id="14" creationId="{44EC9FD0-9DFB-81DC-A5CE-C6C43B6AABF9}"/>
          </ac:inkMkLst>
        </pc:inkChg>
      </pc:sldChg>
      <pc:sldChg chg="modSp new mod">
        <pc:chgData name="reem ahmed" userId="3e93c4aea066c3e4" providerId="LiveId" clId="{57F5704B-84EA-42A6-9A59-80126CD6AD14}" dt="2024-08-30T23:13:45.503" v="91" actId="20577"/>
        <pc:sldMkLst>
          <pc:docMk/>
          <pc:sldMk cId="3451174933" sldId="335"/>
        </pc:sldMkLst>
        <pc:spChg chg="mod">
          <ac:chgData name="reem ahmed" userId="3e93c4aea066c3e4" providerId="LiveId" clId="{57F5704B-84EA-42A6-9A59-80126CD6AD14}" dt="2024-08-30T23:12:50.795" v="40" actId="20577"/>
          <ac:spMkLst>
            <pc:docMk/>
            <pc:sldMk cId="3451174933" sldId="335"/>
            <ac:spMk id="2" creationId="{95A082EB-E537-624A-B07C-A494097E4E41}"/>
          </ac:spMkLst>
        </pc:spChg>
        <pc:spChg chg="mod">
          <ac:chgData name="reem ahmed" userId="3e93c4aea066c3e4" providerId="LiveId" clId="{57F5704B-84EA-42A6-9A59-80126CD6AD14}" dt="2024-08-30T23:13:45.503" v="91" actId="20577"/>
          <ac:spMkLst>
            <pc:docMk/>
            <pc:sldMk cId="3451174933" sldId="335"/>
            <ac:spMk id="3" creationId="{AE311F9B-EC29-0E95-CC2A-81057884C19F}"/>
          </ac:spMkLst>
        </pc:spChg>
      </pc:sldChg>
      <pc:sldChg chg="del">
        <pc:chgData name="reem ahmed" userId="3e93c4aea066c3e4" providerId="LiveId" clId="{57F5704B-84EA-42A6-9A59-80126CD6AD14}" dt="2024-08-30T22:58:33.467" v="14" actId="2696"/>
        <pc:sldMkLst>
          <pc:docMk/>
          <pc:sldMk cId="4030880219" sldId="33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F23750-8302-4AF4-A75A-48BB26F07013}" type="datetimeFigureOut">
              <a:rPr lang="en-US" smtClean="0"/>
              <a:t>8/31/2024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CC6210-1EAE-4730-BD50-2636A4C50A77}" type="slidenum">
              <a:rPr lang="en-US" smtClean="0"/>
              <a:t>‹#›</a:t>
            </a:fld>
            <a:endParaRPr lang="en-US"/>
          </a:p>
        </p:txBody>
      </p:sp>
    </p:spTree>
    <p:extLst>
      <p:ext uri="{BB962C8B-B14F-4D97-AF65-F5344CB8AC3E}">
        <p14:creationId xmlns:p14="http://schemas.microsoft.com/office/powerpoint/2010/main" val="351973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CC6210-1EAE-4730-BD50-2636A4C50A77}" type="slidenum">
              <a:rPr lang="en-US" smtClean="0"/>
              <a:t>4</a:t>
            </a:fld>
            <a:endParaRPr lang="en-US"/>
          </a:p>
        </p:txBody>
      </p:sp>
    </p:spTree>
    <p:extLst>
      <p:ext uri="{BB962C8B-B14F-4D97-AF65-F5344CB8AC3E}">
        <p14:creationId xmlns:p14="http://schemas.microsoft.com/office/powerpoint/2010/main" val="3572749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6CC6210-1EAE-4730-BD50-2636A4C50A77}" type="slidenum">
              <a:rPr lang="en-US" smtClean="0"/>
              <a:t>7</a:t>
            </a:fld>
            <a:endParaRPr lang="en-US"/>
          </a:p>
        </p:txBody>
      </p:sp>
    </p:spTree>
    <p:extLst>
      <p:ext uri="{BB962C8B-B14F-4D97-AF65-F5344CB8AC3E}">
        <p14:creationId xmlns:p14="http://schemas.microsoft.com/office/powerpoint/2010/main" val="2157903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19B66A5-1CCB-4E93-82D2-F1C6B0E9DFFB}" type="datetime1">
              <a:rPr lang="en-US" smtClean="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508280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7E310A-446E-4739-A75D-24B417EB1686}" type="datetime1">
              <a:rPr lang="en-US" smtClean="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5516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AE2548-6705-47B3-8AF2-DDA743116422}" type="datetime1">
              <a:rPr lang="en-US" smtClean="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61209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C94A16E-B4AA-4BE1-AE13-44F697437E97}" type="datetime1">
              <a:rPr lang="en-US" smtClean="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603605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26408B3-C9FD-47E8-A4AB-4248208F61F7}" type="datetime1">
              <a:rPr lang="en-US" smtClean="0"/>
              <a:t>8/31/2024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92994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FF6D485-FED6-4D43-A7B3-E342DDB5E669}" type="datetime1">
              <a:rPr lang="en-US" smtClean="0"/>
              <a:t>8/31/2024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729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7C9EC1-323D-43CE-8B3E-9A14D3DCE68E}" type="datetime1">
              <a:rPr lang="en-US" smtClean="0"/>
              <a:t>8/31/2024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148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2F84B24-5379-4A2B-A7C9-EE6CDA56E1F6}" type="datetime1">
              <a:rPr lang="en-US" smtClean="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769114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739BF4-C7C5-4287-AD77-AACB195242B2}" type="datetime1">
              <a:rPr lang="en-US" smtClean="0"/>
              <a:t>8/31/2024</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42305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09CE73-192F-4CCC-82A0-FF1961FB1C20}" type="datetime1">
              <a:rPr lang="en-US" smtClean="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7392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45F7604-3104-427D-9869-845906097ACF}" type="datetime1">
              <a:rPr lang="en-US" smtClean="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772432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8F0DA4-D2E8-4BB4-B15A-4CEEF9A185FD}" type="datetime1">
              <a:rPr lang="en-US" smtClean="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3828532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2966D4D-FC41-4D99-AA4B-FFC89B64DE1E}" type="datetime1">
              <a:rPr lang="en-US" smtClean="0"/>
              <a:t>8/31/2024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972524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AF2723CD-52B8-4B55-BF98-47D46E45831F}" type="datetime1">
              <a:rPr lang="en-US" smtClean="0"/>
              <a:t>8/31/2024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9214108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97D3BDD-CE6C-48AB-BDC2-9D06FEA425BA}" type="datetime1">
              <a:rPr lang="en-US" smtClean="0"/>
              <a:t>8/31/2024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39391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ECE21B-6D86-4399-8A7C-10DA4874A744}" type="datetime1">
              <a:rPr lang="en-US" smtClean="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949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FBB1E26-7CD5-4D92-A05F-0B039BB58F37}" type="datetime1">
              <a:rPr lang="en-US" smtClean="0"/>
              <a:t>8/31/2024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47370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C0F12971-68D8-491E-82DC-6DC0740938DD}" type="datetime1">
              <a:rPr lang="en-US" smtClean="0"/>
              <a:t>8/31/2024</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33620715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2" Type="http://schemas.openxmlformats.org/officeDocument/2006/relationships/image" Target="../media/image15.gif"/><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A05AC74-6838-4CD9-B157-B3BB3E2F5415}"/>
              </a:ext>
              <a:ext uri="{C183D7F6-B498-43B3-948B-1728B52AA6E4}">
                <adec:decorative xmlns:adec="http://schemas.microsoft.com/office/drawing/2017/decorative" val="1"/>
              </a:ext>
            </a:extLst>
          </p:cNvPr>
          <p:cNvPicPr>
            <a:picLocks noChangeAspect="1"/>
          </p:cNvPicPr>
          <p:nvPr/>
        </p:nvPicPr>
        <p:blipFill rotWithShape="1">
          <a:blip r:embed="rId4">
            <a:extLst>
              <a:ext uri="{28A0092B-C50C-407E-A947-70E740481C1C}">
                <a14:useLocalDpi xmlns:a14="http://schemas.microsoft.com/office/drawing/2010/main" val="0"/>
              </a:ext>
            </a:extLst>
          </a:blip>
          <a:srcRect/>
          <a:stretch/>
        </p:blipFill>
        <p:spPr>
          <a:xfrm>
            <a:off x="20" y="10"/>
            <a:ext cx="12191980" cy="6857990"/>
          </a:xfrm>
          <a:prstGeom prst="rect">
            <a:avLst/>
          </a:prstGeom>
        </p:spPr>
      </p:pic>
      <p:sp useBgFill="1">
        <p:nvSpPr>
          <p:cNvPr id="83" name="Freeform 5">
            <a:extLst>
              <a:ext uri="{FF2B5EF4-FFF2-40B4-BE49-F238E27FC236}">
                <a16:creationId xmlns:a16="http://schemas.microsoft.com/office/drawing/2014/main" id="{608EAA06-5488-416B-B2B2-E552130110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rot="5400000">
            <a:off x="199829" y="1101852"/>
            <a:ext cx="4254640" cy="4654297"/>
          </a:xfrm>
          <a:prstGeom prst="round2SameRect">
            <a:avLst>
              <a:gd name="adj1" fmla="val 5146"/>
              <a:gd name="adj2" fmla="val 400"/>
            </a:avLst>
          </a:prstGeom>
          <a:ln>
            <a:noFill/>
          </a:ln>
          <a:effectLst>
            <a:outerShdw blurRad="50800" dist="38100" dir="5400000" algn="tl" rotWithShape="0">
              <a:srgbClr val="000000">
                <a:alpha val="43000"/>
              </a:srgbClr>
            </a:outerShdw>
          </a:effectLst>
          <a:extLst>
            <a:ext uri="{91240B29-F687-4f45-9708-019B960494DF}">
              <a14:hiddenLine xmlns:a16="http://schemas.microsoft.com/office/drawing/2014/main" xmlns:p14="http://schemas.microsoft.com/office/powerpoint/2010/main"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Goudy Old Style"/>
              <a:ea typeface="+mn-ea"/>
              <a:cs typeface="+mn-cs"/>
            </a:endParaRPr>
          </a:p>
        </p:txBody>
      </p:sp>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804336" y="1623412"/>
            <a:ext cx="3503122" cy="2287229"/>
          </a:xfrm>
        </p:spPr>
        <p:txBody>
          <a:bodyPr>
            <a:normAutofit/>
          </a:bodyPr>
          <a:lstStyle/>
          <a:p>
            <a:pPr algn="l"/>
            <a:r>
              <a:rPr lang="en-US" sz="4400" dirty="0"/>
              <a:t>Session 2</a:t>
            </a:r>
            <a:br>
              <a:rPr lang="en-US" sz="4400" dirty="0"/>
            </a:br>
            <a:r>
              <a:rPr lang="en-US" sz="4400" dirty="0"/>
              <a:t>Image Processing</a:t>
            </a:r>
          </a:p>
        </p:txBody>
      </p:sp>
      <p:sp>
        <p:nvSpPr>
          <p:cNvPr id="4" name="Slide Number Placeholder 3">
            <a:extLst>
              <a:ext uri="{FF2B5EF4-FFF2-40B4-BE49-F238E27FC236}">
                <a16:creationId xmlns:a16="http://schemas.microsoft.com/office/drawing/2014/main" id="{95E2AC56-40CC-9B8C-7631-235109F76561}"/>
              </a:ext>
            </a:extLst>
          </p:cNvPr>
          <p:cNvSpPr>
            <a:spLocks noGrp="1"/>
          </p:cNvSpPr>
          <p:nvPr>
            <p:ph type="sldNum" sz="quarter" idx="12"/>
          </p:nvPr>
        </p:nvSpPr>
        <p:spPr/>
        <p:txBody>
          <a:bodyPr/>
          <a:lstStyle/>
          <a:p>
            <a:fld id="{3A98EE3D-8CD1-4C3F-BD1C-C98C9596463C}" type="slidenum">
              <a:rPr lang="en-US" smtClean="0"/>
              <a:pPr/>
              <a:t>1</a:t>
            </a:fld>
            <a:endParaRPr lang="en-US" dirty="0"/>
          </a:p>
        </p:txBody>
      </p:sp>
    </p:spTree>
    <p:extLst>
      <p:ext uri="{BB962C8B-B14F-4D97-AF65-F5344CB8AC3E}">
        <p14:creationId xmlns:p14="http://schemas.microsoft.com/office/powerpoint/2010/main" val="1946576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C606D-E560-4820-9C3E-3B881D30AD5A}"/>
              </a:ext>
            </a:extLst>
          </p:cNvPr>
          <p:cNvSpPr>
            <a:spLocks noGrp="1"/>
          </p:cNvSpPr>
          <p:nvPr>
            <p:ph type="title"/>
          </p:nvPr>
        </p:nvSpPr>
        <p:spPr>
          <a:xfrm>
            <a:off x="913794" y="685820"/>
            <a:ext cx="10353762" cy="1257300"/>
          </a:xfrm>
        </p:spPr>
        <p:txBody>
          <a:bodyPr>
            <a:normAutofit/>
          </a:bodyPr>
          <a:lstStyle/>
          <a:p>
            <a:r>
              <a:rPr lang="en-US" dirty="0"/>
              <a:t>Today, We will talk about: </a:t>
            </a:r>
          </a:p>
        </p:txBody>
      </p:sp>
      <p:sp>
        <p:nvSpPr>
          <p:cNvPr id="4" name="Content Placeholder 3">
            <a:extLst>
              <a:ext uri="{FF2B5EF4-FFF2-40B4-BE49-F238E27FC236}">
                <a16:creationId xmlns:a16="http://schemas.microsoft.com/office/drawing/2014/main" id="{1D1070C5-C125-8858-C1E4-902686A1A9C8}"/>
              </a:ext>
            </a:extLst>
          </p:cNvPr>
          <p:cNvSpPr>
            <a:spLocks noGrp="1"/>
          </p:cNvSpPr>
          <p:nvPr>
            <p:ph idx="1"/>
          </p:nvPr>
        </p:nvSpPr>
        <p:spPr/>
        <p:txBody>
          <a:bodyPr>
            <a:normAutofit/>
          </a:bodyPr>
          <a:lstStyle/>
          <a:p>
            <a:endParaRPr lang="en-US" sz="2800" dirty="0"/>
          </a:p>
          <a:p>
            <a:r>
              <a:rPr lang="en-US" sz="2800" dirty="0"/>
              <a:t>1-Blurring</a:t>
            </a:r>
          </a:p>
          <a:p>
            <a:r>
              <a:rPr lang="en-US" sz="2800" dirty="0"/>
              <a:t>2-Sharpening</a:t>
            </a:r>
          </a:p>
          <a:p>
            <a:r>
              <a:rPr lang="en-US" sz="2800" dirty="0"/>
              <a:t>3-Edge Detection</a:t>
            </a:r>
          </a:p>
          <a:p>
            <a:pPr marL="36900" indent="0">
              <a:buNone/>
            </a:pPr>
            <a:endParaRPr lang="en-US" sz="2800" dirty="0"/>
          </a:p>
        </p:txBody>
      </p:sp>
      <p:pic>
        <p:nvPicPr>
          <p:cNvPr id="7" name="Picture 6">
            <a:extLst>
              <a:ext uri="{FF2B5EF4-FFF2-40B4-BE49-F238E27FC236}">
                <a16:creationId xmlns:a16="http://schemas.microsoft.com/office/drawing/2014/main" id="{EBA973C8-DD5C-07BC-10B9-E94F7CC761B4}"/>
              </a:ext>
            </a:extLst>
          </p:cNvPr>
          <p:cNvPicPr>
            <a:picLocks noChangeAspect="1"/>
          </p:cNvPicPr>
          <p:nvPr/>
        </p:nvPicPr>
        <p:blipFill>
          <a:blip r:embed="rId4"/>
          <a:stretch>
            <a:fillRect/>
          </a:stretch>
        </p:blipFill>
        <p:spPr>
          <a:xfrm>
            <a:off x="6625408" y="2209779"/>
            <a:ext cx="5041346" cy="3448090"/>
          </a:xfrm>
          <a:prstGeom prst="rect">
            <a:avLst/>
          </a:prstGeom>
        </p:spPr>
      </p:pic>
      <p:sp>
        <p:nvSpPr>
          <p:cNvPr id="8" name="Slide Number Placeholder 7">
            <a:extLst>
              <a:ext uri="{FF2B5EF4-FFF2-40B4-BE49-F238E27FC236}">
                <a16:creationId xmlns:a16="http://schemas.microsoft.com/office/drawing/2014/main" id="{1E697796-3C0C-D786-FB28-F956DFCD3828}"/>
              </a:ext>
            </a:extLst>
          </p:cNvPr>
          <p:cNvSpPr>
            <a:spLocks noGrp="1"/>
          </p:cNvSpPr>
          <p:nvPr>
            <p:ph type="sldNum" sz="quarter" idx="12"/>
          </p:nvPr>
        </p:nvSpPr>
        <p:spPr/>
        <p:txBody>
          <a:bodyPr/>
          <a:lstStyle/>
          <a:p>
            <a:fld id="{3A98EE3D-8CD1-4C3F-BD1C-C98C9596463C}" type="slidenum">
              <a:rPr lang="en-US" smtClean="0"/>
              <a:t>2</a:t>
            </a:fld>
            <a:endParaRPr lang="en-US" dirty="0"/>
          </a:p>
        </p:txBody>
      </p:sp>
    </p:spTree>
    <p:extLst>
      <p:ext uri="{BB962C8B-B14F-4D97-AF65-F5344CB8AC3E}">
        <p14:creationId xmlns:p14="http://schemas.microsoft.com/office/powerpoint/2010/main" val="6514438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FF84F-B918-AD97-A3F3-45EEADA6126B}"/>
              </a:ext>
            </a:extLst>
          </p:cNvPr>
          <p:cNvSpPr>
            <a:spLocks noGrp="1"/>
          </p:cNvSpPr>
          <p:nvPr>
            <p:ph type="ctrTitle"/>
          </p:nvPr>
        </p:nvSpPr>
        <p:spPr>
          <a:xfrm>
            <a:off x="3978705" y="325709"/>
            <a:ext cx="6912078" cy="2137785"/>
          </a:xfrm>
        </p:spPr>
        <p:txBody>
          <a:bodyPr>
            <a:normAutofit/>
          </a:bodyPr>
          <a:lstStyle/>
          <a:p>
            <a:r>
              <a:rPr lang="en-US" dirty="0"/>
              <a:t>Why they’re important in our life?</a:t>
            </a:r>
          </a:p>
        </p:txBody>
      </p:sp>
      <p:sp>
        <p:nvSpPr>
          <p:cNvPr id="3" name="Subtitle 2">
            <a:extLst>
              <a:ext uri="{FF2B5EF4-FFF2-40B4-BE49-F238E27FC236}">
                <a16:creationId xmlns:a16="http://schemas.microsoft.com/office/drawing/2014/main" id="{86784314-6256-D9AC-BAE3-2753A6083029}"/>
              </a:ext>
            </a:extLst>
          </p:cNvPr>
          <p:cNvSpPr>
            <a:spLocks noGrp="1"/>
          </p:cNvSpPr>
          <p:nvPr>
            <p:ph type="subTitle" idx="1"/>
          </p:nvPr>
        </p:nvSpPr>
        <p:spPr>
          <a:xfrm>
            <a:off x="1445392" y="2743200"/>
            <a:ext cx="7610118" cy="3859659"/>
          </a:xfrm>
        </p:spPr>
        <p:txBody>
          <a:bodyPr>
            <a:normAutofit/>
          </a:bodyPr>
          <a:lstStyle/>
          <a:p>
            <a:pPr marL="342900" indent="-342900" algn="l">
              <a:buFont typeface="Arial" panose="020B0604020202020204" pitchFamily="34" charset="0"/>
              <a:buChar char="•"/>
            </a:pPr>
            <a:r>
              <a:rPr lang="en-US" sz="2400" dirty="0"/>
              <a:t>Filters like Gaussian blur remove noise and small artifacts, making it easier to detect tumors, blood vessels, or other anatomical structures by making the edges more distinct.</a:t>
            </a:r>
          </a:p>
          <a:p>
            <a:pPr algn="l"/>
            <a:endParaRPr lang="en-US" sz="2400" dirty="0"/>
          </a:p>
          <a:p>
            <a:pPr marL="342900" indent="-342900" algn="l">
              <a:buFont typeface="Arial" panose="020B0604020202020204" pitchFamily="34" charset="0"/>
              <a:buChar char="•"/>
            </a:pPr>
            <a:r>
              <a:rPr lang="en-US" sz="2400" b="1" dirty="0"/>
              <a:t>Edge detection algorithms</a:t>
            </a:r>
            <a:r>
              <a:rPr lang="en-US" sz="2400" dirty="0"/>
              <a:t> (e.g., Sobel, Canny) are used to outline the boundaries of different structures, making it easier for radiologists to identify abnormalities.</a:t>
            </a:r>
          </a:p>
          <a:p>
            <a:pPr algn="l"/>
            <a:endParaRPr lang="en-US" dirty="0"/>
          </a:p>
        </p:txBody>
      </p:sp>
      <p:sp>
        <p:nvSpPr>
          <p:cNvPr id="4" name="Slide Number Placeholder 3">
            <a:extLst>
              <a:ext uri="{FF2B5EF4-FFF2-40B4-BE49-F238E27FC236}">
                <a16:creationId xmlns:a16="http://schemas.microsoft.com/office/drawing/2014/main" id="{E0C270C3-BE51-2262-429B-D86768CD2E3C}"/>
              </a:ext>
            </a:extLst>
          </p:cNvPr>
          <p:cNvSpPr>
            <a:spLocks noGrp="1"/>
          </p:cNvSpPr>
          <p:nvPr>
            <p:ph type="sldNum" sz="quarter" idx="12"/>
          </p:nvPr>
        </p:nvSpPr>
        <p:spPr/>
        <p:txBody>
          <a:bodyPr/>
          <a:lstStyle/>
          <a:p>
            <a:fld id="{3A98EE3D-8CD1-4C3F-BD1C-C98C9596463C}" type="slidenum">
              <a:rPr lang="en-US" smtClean="0"/>
              <a:pPr/>
              <a:t>3</a:t>
            </a:fld>
            <a:endParaRPr lang="en-US" dirty="0"/>
          </a:p>
        </p:txBody>
      </p:sp>
      <p:pic>
        <p:nvPicPr>
          <p:cNvPr id="7" name="Picture 6">
            <a:extLst>
              <a:ext uri="{FF2B5EF4-FFF2-40B4-BE49-F238E27FC236}">
                <a16:creationId xmlns:a16="http://schemas.microsoft.com/office/drawing/2014/main" id="{A8747097-5870-5428-0886-E25CDC841C43}"/>
              </a:ext>
            </a:extLst>
          </p:cNvPr>
          <p:cNvPicPr>
            <a:picLocks noChangeAspect="1"/>
          </p:cNvPicPr>
          <p:nvPr/>
        </p:nvPicPr>
        <p:blipFill>
          <a:blip r:embed="rId2"/>
          <a:stretch>
            <a:fillRect/>
          </a:stretch>
        </p:blipFill>
        <p:spPr>
          <a:xfrm>
            <a:off x="9188241" y="4879507"/>
            <a:ext cx="2154752" cy="1206661"/>
          </a:xfrm>
          <a:prstGeom prst="rect">
            <a:avLst/>
          </a:prstGeom>
        </p:spPr>
      </p:pic>
      <p:pic>
        <p:nvPicPr>
          <p:cNvPr id="8" name="Picture 7">
            <a:extLst>
              <a:ext uri="{FF2B5EF4-FFF2-40B4-BE49-F238E27FC236}">
                <a16:creationId xmlns:a16="http://schemas.microsoft.com/office/drawing/2014/main" id="{A381C78A-2289-96E2-0BED-FB599BEA67E3}"/>
              </a:ext>
            </a:extLst>
          </p:cNvPr>
          <p:cNvPicPr>
            <a:picLocks noChangeAspect="1"/>
          </p:cNvPicPr>
          <p:nvPr/>
        </p:nvPicPr>
        <p:blipFill>
          <a:blip r:embed="rId3"/>
          <a:stretch>
            <a:fillRect/>
          </a:stretch>
        </p:blipFill>
        <p:spPr>
          <a:xfrm>
            <a:off x="341950" y="255141"/>
            <a:ext cx="3109173" cy="2312922"/>
          </a:xfrm>
          <a:prstGeom prst="rect">
            <a:avLst/>
          </a:prstGeom>
        </p:spPr>
      </p:pic>
      <p:pic>
        <p:nvPicPr>
          <p:cNvPr id="12" name="Picture 11">
            <a:extLst>
              <a:ext uri="{FF2B5EF4-FFF2-40B4-BE49-F238E27FC236}">
                <a16:creationId xmlns:a16="http://schemas.microsoft.com/office/drawing/2014/main" id="{BBE08589-4C1D-F47B-3348-76DD66A0F784}"/>
              </a:ext>
            </a:extLst>
          </p:cNvPr>
          <p:cNvPicPr>
            <a:picLocks noChangeAspect="1"/>
          </p:cNvPicPr>
          <p:nvPr/>
        </p:nvPicPr>
        <p:blipFill>
          <a:blip r:embed="rId4"/>
          <a:stretch>
            <a:fillRect/>
          </a:stretch>
        </p:blipFill>
        <p:spPr>
          <a:xfrm>
            <a:off x="9031619" y="2985697"/>
            <a:ext cx="1341414" cy="1362594"/>
          </a:xfrm>
          <a:prstGeom prst="rect">
            <a:avLst/>
          </a:prstGeom>
        </p:spPr>
      </p:pic>
      <p:pic>
        <p:nvPicPr>
          <p:cNvPr id="14" name="Picture 13">
            <a:extLst>
              <a:ext uri="{FF2B5EF4-FFF2-40B4-BE49-F238E27FC236}">
                <a16:creationId xmlns:a16="http://schemas.microsoft.com/office/drawing/2014/main" id="{0D884C3D-52FE-339A-8D89-14905776E51E}"/>
              </a:ext>
            </a:extLst>
          </p:cNvPr>
          <p:cNvPicPr>
            <a:picLocks noChangeAspect="1"/>
          </p:cNvPicPr>
          <p:nvPr/>
        </p:nvPicPr>
        <p:blipFill>
          <a:blip r:embed="rId5"/>
          <a:stretch>
            <a:fillRect/>
          </a:stretch>
        </p:blipFill>
        <p:spPr>
          <a:xfrm>
            <a:off x="10628827" y="2985697"/>
            <a:ext cx="1413521" cy="1399797"/>
          </a:xfrm>
          <a:prstGeom prst="rect">
            <a:avLst/>
          </a:prstGeom>
        </p:spPr>
      </p:pic>
    </p:spTree>
    <p:extLst>
      <p:ext uri="{BB962C8B-B14F-4D97-AF65-F5344CB8AC3E}">
        <p14:creationId xmlns:p14="http://schemas.microsoft.com/office/powerpoint/2010/main" val="26905885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09DB6-05D7-1586-7E9B-29507984C681}"/>
              </a:ext>
            </a:extLst>
          </p:cNvPr>
          <p:cNvSpPr>
            <a:spLocks noGrp="1"/>
          </p:cNvSpPr>
          <p:nvPr>
            <p:ph type="title"/>
          </p:nvPr>
        </p:nvSpPr>
        <p:spPr>
          <a:xfrm>
            <a:off x="1218595" y="603435"/>
            <a:ext cx="10353762" cy="1257300"/>
          </a:xfrm>
        </p:spPr>
        <p:txBody>
          <a:bodyPr>
            <a:normAutofit fontScale="90000"/>
          </a:bodyPr>
          <a:lstStyle/>
          <a:p>
            <a:r>
              <a:rPr lang="en-US" dirty="0"/>
              <a:t>First of All, Let’s define what is kernel Convolution?</a:t>
            </a:r>
          </a:p>
        </p:txBody>
      </p:sp>
      <p:sp>
        <p:nvSpPr>
          <p:cNvPr id="14" name="Rectangle 13">
            <a:extLst>
              <a:ext uri="{FF2B5EF4-FFF2-40B4-BE49-F238E27FC236}">
                <a16:creationId xmlns:a16="http://schemas.microsoft.com/office/drawing/2014/main" id="{D3958EFD-F0D8-54BC-B8B1-81E3BD8DA3E9}"/>
              </a:ext>
            </a:extLst>
          </p:cNvPr>
          <p:cNvSpPr/>
          <p:nvPr/>
        </p:nvSpPr>
        <p:spPr>
          <a:xfrm>
            <a:off x="989908" y="5708278"/>
            <a:ext cx="2113936" cy="521110"/>
          </a:xfrm>
          <a:prstGeom prst="rect">
            <a:avLst/>
          </a:prstGeom>
          <a:solidFill>
            <a:schemeClr val="bg1">
              <a:lumMod val="95000"/>
              <a:lumOff val="5000"/>
            </a:schemeClr>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Image</a:t>
            </a:r>
          </a:p>
        </p:txBody>
      </p:sp>
      <p:sp>
        <p:nvSpPr>
          <p:cNvPr id="16" name="Rectangle 15">
            <a:extLst>
              <a:ext uri="{FF2B5EF4-FFF2-40B4-BE49-F238E27FC236}">
                <a16:creationId xmlns:a16="http://schemas.microsoft.com/office/drawing/2014/main" id="{F5997CDF-BA99-D1CC-81D1-1A175D2D692E}"/>
              </a:ext>
            </a:extLst>
          </p:cNvPr>
          <p:cNvSpPr/>
          <p:nvPr/>
        </p:nvSpPr>
        <p:spPr>
          <a:xfrm>
            <a:off x="5194089" y="5688786"/>
            <a:ext cx="1514168" cy="494525"/>
          </a:xfrm>
          <a:prstGeom prst="rect">
            <a:avLst/>
          </a:prstGeom>
          <a:solidFill>
            <a:schemeClr val="bg1">
              <a:lumMod val="95000"/>
              <a:lumOff val="5000"/>
            </a:schemeClr>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Kernel</a:t>
            </a:r>
          </a:p>
        </p:txBody>
      </p:sp>
      <p:sp>
        <p:nvSpPr>
          <p:cNvPr id="17" name="Rectangle 16">
            <a:extLst>
              <a:ext uri="{FF2B5EF4-FFF2-40B4-BE49-F238E27FC236}">
                <a16:creationId xmlns:a16="http://schemas.microsoft.com/office/drawing/2014/main" id="{65A250FD-FAD7-4ABC-F248-8DBB2F5CE988}"/>
              </a:ext>
            </a:extLst>
          </p:cNvPr>
          <p:cNvSpPr/>
          <p:nvPr/>
        </p:nvSpPr>
        <p:spPr>
          <a:xfrm>
            <a:off x="8798502" y="5509585"/>
            <a:ext cx="1873683" cy="600804"/>
          </a:xfrm>
          <a:prstGeom prst="rect">
            <a:avLst/>
          </a:prstGeom>
          <a:solidFill>
            <a:schemeClr val="bg1">
              <a:lumMod val="95000"/>
              <a:lumOff val="5000"/>
            </a:schemeClr>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Result</a:t>
            </a:r>
          </a:p>
        </p:txBody>
      </p:sp>
      <p:sp>
        <p:nvSpPr>
          <p:cNvPr id="24" name="Equals 23">
            <a:extLst>
              <a:ext uri="{FF2B5EF4-FFF2-40B4-BE49-F238E27FC236}">
                <a16:creationId xmlns:a16="http://schemas.microsoft.com/office/drawing/2014/main" id="{4C693BCA-003D-51F3-417D-4F2B4C162EF4}"/>
              </a:ext>
            </a:extLst>
          </p:cNvPr>
          <p:cNvSpPr/>
          <p:nvPr/>
        </p:nvSpPr>
        <p:spPr>
          <a:xfrm>
            <a:off x="7682401" y="3988690"/>
            <a:ext cx="497745" cy="521110"/>
          </a:xfrm>
          <a:prstGeom prst="mathEqual">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6" name="Slide Number Placeholder 25">
            <a:extLst>
              <a:ext uri="{FF2B5EF4-FFF2-40B4-BE49-F238E27FC236}">
                <a16:creationId xmlns:a16="http://schemas.microsoft.com/office/drawing/2014/main" id="{B0229BF7-0FA2-9E47-FC54-8662AA2BAEEC}"/>
              </a:ext>
            </a:extLst>
          </p:cNvPr>
          <p:cNvSpPr>
            <a:spLocks noGrp="1"/>
          </p:cNvSpPr>
          <p:nvPr>
            <p:ph type="sldNum" sz="quarter" idx="12"/>
          </p:nvPr>
        </p:nvSpPr>
        <p:spPr/>
        <p:txBody>
          <a:bodyPr/>
          <a:lstStyle/>
          <a:p>
            <a:fld id="{3A98EE3D-8CD1-4C3F-BD1C-C98C9596463C}" type="slidenum">
              <a:rPr lang="en-US" smtClean="0"/>
              <a:t>4</a:t>
            </a:fld>
            <a:endParaRPr lang="en-US" dirty="0"/>
          </a:p>
        </p:txBody>
      </p:sp>
      <p:pic>
        <p:nvPicPr>
          <p:cNvPr id="36" name="Picture 35">
            <a:extLst>
              <a:ext uri="{FF2B5EF4-FFF2-40B4-BE49-F238E27FC236}">
                <a16:creationId xmlns:a16="http://schemas.microsoft.com/office/drawing/2014/main" id="{C2BE0278-6DAD-6790-0CC1-15FBE774806A}"/>
              </a:ext>
            </a:extLst>
          </p:cNvPr>
          <p:cNvPicPr>
            <a:picLocks noChangeAspect="1"/>
          </p:cNvPicPr>
          <p:nvPr/>
        </p:nvPicPr>
        <p:blipFill>
          <a:blip r:embed="rId3"/>
          <a:stretch>
            <a:fillRect/>
          </a:stretch>
        </p:blipFill>
        <p:spPr>
          <a:xfrm>
            <a:off x="1038664" y="3416782"/>
            <a:ext cx="2016423" cy="2092803"/>
          </a:xfrm>
          <a:prstGeom prst="rect">
            <a:avLst/>
          </a:prstGeom>
        </p:spPr>
      </p:pic>
      <p:pic>
        <p:nvPicPr>
          <p:cNvPr id="38" name="Picture 37">
            <a:extLst>
              <a:ext uri="{FF2B5EF4-FFF2-40B4-BE49-F238E27FC236}">
                <a16:creationId xmlns:a16="http://schemas.microsoft.com/office/drawing/2014/main" id="{C1382630-6444-CC6E-EF36-AF3C7AF71DB7}"/>
              </a:ext>
            </a:extLst>
          </p:cNvPr>
          <p:cNvPicPr>
            <a:picLocks noChangeAspect="1"/>
          </p:cNvPicPr>
          <p:nvPr/>
        </p:nvPicPr>
        <p:blipFill>
          <a:blip r:embed="rId4"/>
          <a:stretch>
            <a:fillRect/>
          </a:stretch>
        </p:blipFill>
        <p:spPr>
          <a:xfrm>
            <a:off x="5384982" y="3909629"/>
            <a:ext cx="1285144" cy="1285144"/>
          </a:xfrm>
          <a:prstGeom prst="rect">
            <a:avLst/>
          </a:prstGeom>
        </p:spPr>
      </p:pic>
      <p:pic>
        <p:nvPicPr>
          <p:cNvPr id="40" name="Picture 39">
            <a:extLst>
              <a:ext uri="{FF2B5EF4-FFF2-40B4-BE49-F238E27FC236}">
                <a16:creationId xmlns:a16="http://schemas.microsoft.com/office/drawing/2014/main" id="{1FC78A1D-4E66-A61B-B4B9-27873168AECC}"/>
              </a:ext>
            </a:extLst>
          </p:cNvPr>
          <p:cNvPicPr>
            <a:picLocks noChangeAspect="1"/>
          </p:cNvPicPr>
          <p:nvPr/>
        </p:nvPicPr>
        <p:blipFill>
          <a:blip r:embed="rId5"/>
          <a:stretch>
            <a:fillRect/>
          </a:stretch>
        </p:blipFill>
        <p:spPr>
          <a:xfrm>
            <a:off x="9046556" y="3729455"/>
            <a:ext cx="1467455" cy="1467455"/>
          </a:xfrm>
          <a:prstGeom prst="rect">
            <a:avLst/>
          </a:prstGeom>
        </p:spPr>
      </p:pic>
      <p:cxnSp>
        <p:nvCxnSpPr>
          <p:cNvPr id="44" name="Straight Connector 43">
            <a:extLst>
              <a:ext uri="{FF2B5EF4-FFF2-40B4-BE49-F238E27FC236}">
                <a16:creationId xmlns:a16="http://schemas.microsoft.com/office/drawing/2014/main" id="{A25BB5F5-35A1-6C2E-2395-722F5E9B16EA}"/>
              </a:ext>
            </a:extLst>
          </p:cNvPr>
          <p:cNvCxnSpPr/>
          <p:nvPr/>
        </p:nvCxnSpPr>
        <p:spPr>
          <a:xfrm>
            <a:off x="470716" y="2382598"/>
            <a:ext cx="0" cy="6367"/>
          </a:xfrm>
          <a:prstGeom prst="line">
            <a:avLst/>
          </a:prstGeom>
        </p:spPr>
        <p:style>
          <a:lnRef idx="1">
            <a:schemeClr val="accent1"/>
          </a:lnRef>
          <a:fillRef idx="0">
            <a:schemeClr val="accent1"/>
          </a:fillRef>
          <a:effectRef idx="0">
            <a:schemeClr val="accent1"/>
          </a:effectRef>
          <a:fontRef idx="minor">
            <a:schemeClr val="tx1"/>
          </a:fontRef>
        </p:style>
      </p:cxnSp>
      <p:sp>
        <p:nvSpPr>
          <p:cNvPr id="66" name="Star: 4 Points 65">
            <a:extLst>
              <a:ext uri="{FF2B5EF4-FFF2-40B4-BE49-F238E27FC236}">
                <a16:creationId xmlns:a16="http://schemas.microsoft.com/office/drawing/2014/main" id="{F360639F-3B2D-4FE9-0BCD-A958495C0219}"/>
              </a:ext>
            </a:extLst>
          </p:cNvPr>
          <p:cNvSpPr/>
          <p:nvPr/>
        </p:nvSpPr>
        <p:spPr>
          <a:xfrm>
            <a:off x="3804255" y="3866377"/>
            <a:ext cx="933946" cy="828981"/>
          </a:xfrm>
          <a:prstGeom prst="star4">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Star: 4 Points 66">
            <a:extLst>
              <a:ext uri="{FF2B5EF4-FFF2-40B4-BE49-F238E27FC236}">
                <a16:creationId xmlns:a16="http://schemas.microsoft.com/office/drawing/2014/main" id="{AE8A4557-7ABC-496D-5163-4A1CF2B81993}"/>
              </a:ext>
            </a:extLst>
          </p:cNvPr>
          <p:cNvSpPr/>
          <p:nvPr/>
        </p:nvSpPr>
        <p:spPr>
          <a:xfrm rot="19604153">
            <a:off x="3868164" y="3927578"/>
            <a:ext cx="806126" cy="682661"/>
          </a:xfrm>
          <a:prstGeom prst="star4">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D35F783-D5DC-EF22-5D25-45A96E78B98A}"/>
              </a:ext>
            </a:extLst>
          </p:cNvPr>
          <p:cNvSpPr/>
          <p:nvPr/>
        </p:nvSpPr>
        <p:spPr>
          <a:xfrm>
            <a:off x="3055087" y="1953965"/>
            <a:ext cx="6961238" cy="120733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It is just a process where we take a small grid of numbers and we pass them over the whole image , transforming it based on what those numbers are. And by using different numbers in the kernel, we can perform blurs, or sharpen or edge detection.</a:t>
            </a:r>
          </a:p>
        </p:txBody>
      </p:sp>
    </p:spTree>
    <p:extLst>
      <p:ext uri="{BB962C8B-B14F-4D97-AF65-F5344CB8AC3E}">
        <p14:creationId xmlns:p14="http://schemas.microsoft.com/office/powerpoint/2010/main" val="8701703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8DC0C-03DD-0CAB-F580-0C7DC48AF477}"/>
              </a:ext>
            </a:extLst>
          </p:cNvPr>
          <p:cNvSpPr>
            <a:spLocks noGrp="1"/>
          </p:cNvSpPr>
          <p:nvPr>
            <p:ph type="ctrTitle"/>
          </p:nvPr>
        </p:nvSpPr>
        <p:spPr>
          <a:xfrm>
            <a:off x="1375983" y="541839"/>
            <a:ext cx="9440034" cy="1828801"/>
          </a:xfrm>
        </p:spPr>
        <p:txBody>
          <a:bodyPr/>
          <a:lstStyle/>
          <a:p>
            <a:r>
              <a:rPr lang="en-US" dirty="0"/>
              <a:t>A small Animation for what happens </a:t>
            </a:r>
          </a:p>
        </p:txBody>
      </p:sp>
      <p:sp>
        <p:nvSpPr>
          <p:cNvPr id="4" name="Slide Number Placeholder 3">
            <a:extLst>
              <a:ext uri="{FF2B5EF4-FFF2-40B4-BE49-F238E27FC236}">
                <a16:creationId xmlns:a16="http://schemas.microsoft.com/office/drawing/2014/main" id="{555B118E-F0EB-81AD-17FB-A7FBA37A1E31}"/>
              </a:ext>
            </a:extLst>
          </p:cNvPr>
          <p:cNvSpPr>
            <a:spLocks noGrp="1"/>
          </p:cNvSpPr>
          <p:nvPr>
            <p:ph type="sldNum" sz="quarter" idx="12"/>
          </p:nvPr>
        </p:nvSpPr>
        <p:spPr/>
        <p:txBody>
          <a:bodyPr/>
          <a:lstStyle/>
          <a:p>
            <a:fld id="{3A98EE3D-8CD1-4C3F-BD1C-C98C9596463C}" type="slidenum">
              <a:rPr lang="en-US" smtClean="0"/>
              <a:pPr/>
              <a:t>5</a:t>
            </a:fld>
            <a:endParaRPr lang="en-US" dirty="0"/>
          </a:p>
        </p:txBody>
      </p:sp>
      <p:pic>
        <p:nvPicPr>
          <p:cNvPr id="5" name="Picture 4">
            <a:extLst>
              <a:ext uri="{FF2B5EF4-FFF2-40B4-BE49-F238E27FC236}">
                <a16:creationId xmlns:a16="http://schemas.microsoft.com/office/drawing/2014/main" id="{C996146A-CF89-3B15-8191-9E9DB015376E}"/>
              </a:ext>
            </a:extLst>
          </p:cNvPr>
          <p:cNvPicPr>
            <a:picLocks noChangeAspect="1"/>
          </p:cNvPicPr>
          <p:nvPr/>
        </p:nvPicPr>
        <p:blipFill>
          <a:blip r:embed="rId2"/>
          <a:stretch>
            <a:fillRect/>
          </a:stretch>
        </p:blipFill>
        <p:spPr>
          <a:xfrm>
            <a:off x="2625213" y="2743200"/>
            <a:ext cx="7108721" cy="3371139"/>
          </a:xfrm>
          <a:prstGeom prst="rect">
            <a:avLst/>
          </a:prstGeom>
        </p:spPr>
      </p:pic>
      <p:sp>
        <p:nvSpPr>
          <p:cNvPr id="6" name="Smiley Face 5">
            <a:extLst>
              <a:ext uri="{FF2B5EF4-FFF2-40B4-BE49-F238E27FC236}">
                <a16:creationId xmlns:a16="http://schemas.microsoft.com/office/drawing/2014/main" id="{7B76484A-A2B5-8008-712E-1EB707AE4CB3}"/>
              </a:ext>
            </a:extLst>
          </p:cNvPr>
          <p:cNvSpPr/>
          <p:nvPr/>
        </p:nvSpPr>
        <p:spPr>
          <a:xfrm>
            <a:off x="7659328" y="1641987"/>
            <a:ext cx="717755" cy="589936"/>
          </a:xfrm>
          <a:prstGeom prst="smileyFace">
            <a:avLst>
              <a:gd name="adj" fmla="val 4653"/>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90214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58B3D7-EEC3-0754-8A97-F75DD616ADA2}"/>
              </a:ext>
            </a:extLst>
          </p:cNvPr>
          <p:cNvSpPr>
            <a:spLocks noGrp="1"/>
          </p:cNvSpPr>
          <p:nvPr>
            <p:ph type="title"/>
          </p:nvPr>
        </p:nvSpPr>
        <p:spPr>
          <a:xfrm>
            <a:off x="913795" y="609599"/>
            <a:ext cx="10353762" cy="2223066"/>
          </a:xfrm>
        </p:spPr>
        <p:txBody>
          <a:bodyPr>
            <a:normAutofit fontScale="90000"/>
          </a:bodyPr>
          <a:lstStyle/>
          <a:p>
            <a:r>
              <a:rPr lang="en-US" dirty="0"/>
              <a:t>What is Blurring?</a:t>
            </a:r>
            <a:br>
              <a:rPr lang="en-US" sz="3100" b="0" i="0" dirty="0">
                <a:effectLst/>
                <a:latin typeface="system-ui"/>
              </a:rPr>
            </a:br>
            <a:r>
              <a:rPr lang="en-US" sz="3100" dirty="0">
                <a:effectLst/>
                <a:latin typeface="system-ui"/>
              </a:rPr>
              <a:t>As You let each pixel’s value blend into the pixel’s next to it. When you blur an image, You’re setting a pixel’s value to no longer be independent ,but be the average of the pixel’s values around it in a local neighborhood.</a:t>
            </a:r>
            <a:endParaRPr lang="en-US" sz="3100" dirty="0"/>
          </a:p>
        </p:txBody>
      </p:sp>
      <p:pic>
        <p:nvPicPr>
          <p:cNvPr id="6" name="Content Placeholder 5">
            <a:extLst>
              <a:ext uri="{FF2B5EF4-FFF2-40B4-BE49-F238E27FC236}">
                <a16:creationId xmlns:a16="http://schemas.microsoft.com/office/drawing/2014/main" id="{E424216D-7A02-A3B3-89F7-B06B460AE639}"/>
              </a:ext>
            </a:extLst>
          </p:cNvPr>
          <p:cNvPicPr>
            <a:picLocks noGrp="1" noChangeAspect="1"/>
          </p:cNvPicPr>
          <p:nvPr>
            <p:ph sz="half" idx="1"/>
          </p:nvPr>
        </p:nvPicPr>
        <p:blipFill>
          <a:blip r:embed="rId2"/>
          <a:stretch>
            <a:fillRect/>
          </a:stretch>
        </p:blipFill>
        <p:spPr>
          <a:xfrm>
            <a:off x="1177070" y="2832665"/>
            <a:ext cx="4088335" cy="3622675"/>
          </a:xfrm>
        </p:spPr>
      </p:pic>
      <p:sp>
        <p:nvSpPr>
          <p:cNvPr id="9" name="Arrow: Right 8">
            <a:extLst>
              <a:ext uri="{FF2B5EF4-FFF2-40B4-BE49-F238E27FC236}">
                <a16:creationId xmlns:a16="http://schemas.microsoft.com/office/drawing/2014/main" id="{9183A510-1093-9977-7BB9-0BA695DEE914}"/>
              </a:ext>
            </a:extLst>
          </p:cNvPr>
          <p:cNvSpPr/>
          <p:nvPr/>
        </p:nvSpPr>
        <p:spPr>
          <a:xfrm>
            <a:off x="5525615" y="3894083"/>
            <a:ext cx="1400981" cy="51716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Content Placeholder 7">
            <a:extLst>
              <a:ext uri="{FF2B5EF4-FFF2-40B4-BE49-F238E27FC236}">
                <a16:creationId xmlns:a16="http://schemas.microsoft.com/office/drawing/2014/main" id="{808839A0-EEA2-6AEF-F9F9-B201797DBDDB}"/>
              </a:ext>
            </a:extLst>
          </p:cNvPr>
          <p:cNvPicPr>
            <a:picLocks noGrp="1" noChangeAspect="1"/>
          </p:cNvPicPr>
          <p:nvPr>
            <p:ph sz="half" idx="2"/>
          </p:nvPr>
        </p:nvPicPr>
        <p:blipFill>
          <a:blip r:embed="rId3"/>
          <a:stretch>
            <a:fillRect/>
          </a:stretch>
        </p:blipFill>
        <p:spPr>
          <a:xfrm>
            <a:off x="7176158" y="2832665"/>
            <a:ext cx="4091398" cy="3622675"/>
          </a:xfrm>
        </p:spPr>
      </p:pic>
      <p:sp>
        <p:nvSpPr>
          <p:cNvPr id="15" name="Slide Number Placeholder 14">
            <a:extLst>
              <a:ext uri="{FF2B5EF4-FFF2-40B4-BE49-F238E27FC236}">
                <a16:creationId xmlns:a16="http://schemas.microsoft.com/office/drawing/2014/main" id="{2E157D43-1D6E-8120-69A1-8CAED9860002}"/>
              </a:ext>
            </a:extLst>
          </p:cNvPr>
          <p:cNvSpPr>
            <a:spLocks noGrp="1"/>
          </p:cNvSpPr>
          <p:nvPr>
            <p:ph type="sldNum" sz="quarter" idx="12"/>
          </p:nvPr>
        </p:nvSpPr>
        <p:spPr/>
        <p:txBody>
          <a:bodyPr/>
          <a:lstStyle/>
          <a:p>
            <a:fld id="{3A98EE3D-8CD1-4C3F-BD1C-C98C9596463C}" type="slidenum">
              <a:rPr lang="en-US" smtClean="0"/>
              <a:t>6</a:t>
            </a:fld>
            <a:endParaRPr lang="en-US" dirty="0"/>
          </a:p>
        </p:txBody>
      </p:sp>
    </p:spTree>
    <p:extLst>
      <p:ext uri="{BB962C8B-B14F-4D97-AF65-F5344CB8AC3E}">
        <p14:creationId xmlns:p14="http://schemas.microsoft.com/office/powerpoint/2010/main" val="4064033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30726-19E0-08A5-3BA1-68006F625D72}"/>
              </a:ext>
            </a:extLst>
          </p:cNvPr>
          <p:cNvSpPr>
            <a:spLocks noGrp="1"/>
          </p:cNvSpPr>
          <p:nvPr>
            <p:ph type="ctrTitle"/>
          </p:nvPr>
        </p:nvSpPr>
        <p:spPr>
          <a:xfrm>
            <a:off x="1370693" y="628256"/>
            <a:ext cx="9440034" cy="1789471"/>
          </a:xfrm>
        </p:spPr>
        <p:txBody>
          <a:bodyPr>
            <a:normAutofit/>
          </a:bodyPr>
          <a:lstStyle/>
          <a:p>
            <a:r>
              <a:rPr lang="en-US" dirty="0"/>
              <a:t>What is the importance of blurring?</a:t>
            </a:r>
          </a:p>
        </p:txBody>
      </p:sp>
      <p:sp>
        <p:nvSpPr>
          <p:cNvPr id="3" name="Subtitle 2">
            <a:extLst>
              <a:ext uri="{FF2B5EF4-FFF2-40B4-BE49-F238E27FC236}">
                <a16:creationId xmlns:a16="http://schemas.microsoft.com/office/drawing/2014/main" id="{89A41DA3-06E4-3CE4-F64D-E5BB0D7AC1FA}"/>
              </a:ext>
            </a:extLst>
          </p:cNvPr>
          <p:cNvSpPr>
            <a:spLocks noGrp="1"/>
          </p:cNvSpPr>
          <p:nvPr>
            <p:ph type="subTitle" idx="1"/>
          </p:nvPr>
        </p:nvSpPr>
        <p:spPr>
          <a:xfrm>
            <a:off x="1370693" y="3304762"/>
            <a:ext cx="6072326" cy="2800744"/>
          </a:xfrm>
        </p:spPr>
        <p:txBody>
          <a:bodyPr>
            <a:normAutofit/>
          </a:bodyPr>
          <a:lstStyle/>
          <a:p>
            <a:pPr algn="l"/>
            <a:r>
              <a:rPr lang="en-US" dirty="0"/>
              <a:t>• Noise Reduction</a:t>
            </a:r>
          </a:p>
          <a:p>
            <a:pPr algn="l"/>
            <a:r>
              <a:rPr lang="en-US" dirty="0"/>
              <a:t>• Image Smoothing</a:t>
            </a:r>
          </a:p>
          <a:p>
            <a:pPr algn="l"/>
            <a:r>
              <a:rPr lang="en-US" dirty="0"/>
              <a:t>It </a:t>
            </a:r>
            <a:r>
              <a:rPr lang="en-US" sz="2400" b="0" i="0" dirty="0">
                <a:effectLst/>
                <a:latin typeface="system-ui"/>
              </a:rPr>
              <a:t>is a process that makes the image less sharp and reduces its level of detail.</a:t>
            </a:r>
            <a:r>
              <a:rPr lang="en-US" dirty="0"/>
              <a:t> </a:t>
            </a:r>
          </a:p>
        </p:txBody>
      </p:sp>
      <p:sp>
        <p:nvSpPr>
          <p:cNvPr id="4" name="Slide Number Placeholder 3">
            <a:extLst>
              <a:ext uri="{FF2B5EF4-FFF2-40B4-BE49-F238E27FC236}">
                <a16:creationId xmlns:a16="http://schemas.microsoft.com/office/drawing/2014/main" id="{7E8AA79C-CB41-9871-7C54-82E27841AEE2}"/>
              </a:ext>
            </a:extLst>
          </p:cNvPr>
          <p:cNvSpPr>
            <a:spLocks noGrp="1"/>
          </p:cNvSpPr>
          <p:nvPr>
            <p:ph type="sldNum" sz="quarter" idx="12"/>
          </p:nvPr>
        </p:nvSpPr>
        <p:spPr/>
        <p:txBody>
          <a:bodyPr/>
          <a:lstStyle/>
          <a:p>
            <a:fld id="{3A98EE3D-8CD1-4C3F-BD1C-C98C9596463C}" type="slidenum">
              <a:rPr lang="en-US" smtClean="0"/>
              <a:pPr/>
              <a:t>7</a:t>
            </a:fld>
            <a:endParaRPr lang="en-US" dirty="0"/>
          </a:p>
        </p:txBody>
      </p:sp>
      <p:pic>
        <p:nvPicPr>
          <p:cNvPr id="6" name="Picture 5">
            <a:extLst>
              <a:ext uri="{FF2B5EF4-FFF2-40B4-BE49-F238E27FC236}">
                <a16:creationId xmlns:a16="http://schemas.microsoft.com/office/drawing/2014/main" id="{980C67AC-256D-8244-C70A-013216816A30}"/>
              </a:ext>
            </a:extLst>
          </p:cNvPr>
          <p:cNvPicPr>
            <a:picLocks noChangeAspect="1"/>
          </p:cNvPicPr>
          <p:nvPr/>
        </p:nvPicPr>
        <p:blipFill>
          <a:blip r:embed="rId3"/>
          <a:stretch>
            <a:fillRect/>
          </a:stretch>
        </p:blipFill>
        <p:spPr>
          <a:xfrm>
            <a:off x="7846142" y="2754818"/>
            <a:ext cx="3995908" cy="3611056"/>
          </a:xfrm>
          <a:prstGeom prst="rect">
            <a:avLst/>
          </a:prstGeom>
        </p:spPr>
      </p:pic>
    </p:spTree>
    <p:extLst>
      <p:ext uri="{BB962C8B-B14F-4D97-AF65-F5344CB8AC3E}">
        <p14:creationId xmlns:p14="http://schemas.microsoft.com/office/powerpoint/2010/main" val="2179194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AF421-7AB7-0C6D-FB9B-4E2D7C366BE9}"/>
              </a:ext>
            </a:extLst>
          </p:cNvPr>
          <p:cNvSpPr>
            <a:spLocks noGrp="1"/>
          </p:cNvSpPr>
          <p:nvPr>
            <p:ph type="ctrTitle"/>
          </p:nvPr>
        </p:nvSpPr>
        <p:spPr>
          <a:xfrm>
            <a:off x="1370693" y="1081283"/>
            <a:ext cx="7262030" cy="1170305"/>
          </a:xfrm>
        </p:spPr>
        <p:txBody>
          <a:bodyPr/>
          <a:lstStyle/>
          <a:p>
            <a:r>
              <a:rPr lang="en-US" dirty="0"/>
              <a:t>Types of Blurring</a:t>
            </a:r>
          </a:p>
        </p:txBody>
      </p:sp>
      <p:sp>
        <p:nvSpPr>
          <p:cNvPr id="3" name="Subtitle 2">
            <a:extLst>
              <a:ext uri="{FF2B5EF4-FFF2-40B4-BE49-F238E27FC236}">
                <a16:creationId xmlns:a16="http://schemas.microsoft.com/office/drawing/2014/main" id="{7D821348-E04A-FF53-ED0E-01334E5375BA}"/>
              </a:ext>
            </a:extLst>
          </p:cNvPr>
          <p:cNvSpPr>
            <a:spLocks noGrp="1"/>
          </p:cNvSpPr>
          <p:nvPr>
            <p:ph type="subTitle" idx="1"/>
          </p:nvPr>
        </p:nvSpPr>
        <p:spPr>
          <a:xfrm>
            <a:off x="1370693" y="2664542"/>
            <a:ext cx="7989617" cy="3336207"/>
          </a:xfrm>
        </p:spPr>
        <p:txBody>
          <a:bodyPr>
            <a:normAutofit fontScale="85000" lnSpcReduction="20000"/>
          </a:bodyPr>
          <a:lstStyle/>
          <a:p>
            <a:pPr algn="l"/>
            <a:r>
              <a:rPr lang="en-US" dirty="0"/>
              <a:t>1-Average Blur : also known as Mean blur, works by replacing each pixel in an image with the average value of the pixels within a defined neighborhood around it</a:t>
            </a:r>
          </a:p>
          <a:p>
            <a:pPr algn="l"/>
            <a:r>
              <a:rPr lang="en-US" dirty="0"/>
              <a:t>2-Gaussian Blur: It uses a Gaussian function (a bell-shaped curve) to determine the weights of the pixels within the neighborhood. Pixels closer to the center of the neighborhood have a higher weight, while those farther away have a lower weight</a:t>
            </a:r>
          </a:p>
          <a:p>
            <a:pPr algn="l"/>
            <a:r>
              <a:rPr lang="en-US" dirty="0"/>
              <a:t>3-Median Blur : It replaces each pixel’s value with the median value of the pixels in a surrounding neighborhood . It is less sensitive to outliers, making it effective at removing "salt-and-pepper" noise.</a:t>
            </a:r>
          </a:p>
          <a:p>
            <a:pPr algn="l"/>
            <a:endParaRPr lang="en-US" dirty="0"/>
          </a:p>
          <a:p>
            <a:endParaRPr lang="en-US" dirty="0"/>
          </a:p>
        </p:txBody>
      </p:sp>
      <p:sp>
        <p:nvSpPr>
          <p:cNvPr id="4" name="Slide Number Placeholder 3">
            <a:extLst>
              <a:ext uri="{FF2B5EF4-FFF2-40B4-BE49-F238E27FC236}">
                <a16:creationId xmlns:a16="http://schemas.microsoft.com/office/drawing/2014/main" id="{397C469B-B2A0-9F2D-E08B-C66C8C5E11E4}"/>
              </a:ext>
            </a:extLst>
          </p:cNvPr>
          <p:cNvSpPr>
            <a:spLocks noGrp="1"/>
          </p:cNvSpPr>
          <p:nvPr>
            <p:ph type="sldNum" sz="quarter" idx="12"/>
          </p:nvPr>
        </p:nvSpPr>
        <p:spPr/>
        <p:txBody>
          <a:bodyPr/>
          <a:lstStyle/>
          <a:p>
            <a:fld id="{3A98EE3D-8CD1-4C3F-BD1C-C98C9596463C}" type="slidenum">
              <a:rPr lang="en-US" smtClean="0"/>
              <a:pPr/>
              <a:t>8</a:t>
            </a:fld>
            <a:endParaRPr lang="en-US" dirty="0"/>
          </a:p>
        </p:txBody>
      </p:sp>
      <p:pic>
        <p:nvPicPr>
          <p:cNvPr id="6" name="Picture 5">
            <a:extLst>
              <a:ext uri="{FF2B5EF4-FFF2-40B4-BE49-F238E27FC236}">
                <a16:creationId xmlns:a16="http://schemas.microsoft.com/office/drawing/2014/main" id="{4D51A302-4B83-5E92-866F-BA380ADEDDA4}"/>
              </a:ext>
            </a:extLst>
          </p:cNvPr>
          <p:cNvPicPr>
            <a:picLocks noChangeAspect="1"/>
          </p:cNvPicPr>
          <p:nvPr/>
        </p:nvPicPr>
        <p:blipFill>
          <a:blip r:embed="rId2"/>
          <a:stretch>
            <a:fillRect/>
          </a:stretch>
        </p:blipFill>
        <p:spPr>
          <a:xfrm>
            <a:off x="8805176" y="234288"/>
            <a:ext cx="3187238" cy="2017300"/>
          </a:xfrm>
          <a:prstGeom prst="rect">
            <a:avLst/>
          </a:prstGeom>
        </p:spPr>
      </p:pic>
      <p:sp>
        <p:nvSpPr>
          <p:cNvPr id="7" name="Rectangle 6">
            <a:extLst>
              <a:ext uri="{FF2B5EF4-FFF2-40B4-BE49-F238E27FC236}">
                <a16:creationId xmlns:a16="http://schemas.microsoft.com/office/drawing/2014/main" id="{1CB3E21B-0339-57D8-B869-49C6A50A0E63}"/>
              </a:ext>
            </a:extLst>
          </p:cNvPr>
          <p:cNvSpPr/>
          <p:nvPr/>
        </p:nvSpPr>
        <p:spPr>
          <a:xfrm>
            <a:off x="9566787" y="2359742"/>
            <a:ext cx="1877961" cy="511277"/>
          </a:xfrm>
          <a:prstGeom prst="rect">
            <a:avLst/>
          </a:prstGeom>
          <a:solidFill>
            <a:schemeClr val="bg1">
              <a:lumMod val="85000"/>
              <a:lumOff val="15000"/>
            </a:schemeClr>
          </a:solidFill>
          <a:ln>
            <a:solidFill>
              <a:schemeClr val="bg1">
                <a:lumMod val="85000"/>
                <a:lumOff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Salt and Pepper Noise</a:t>
            </a:r>
          </a:p>
        </p:txBody>
      </p:sp>
      <p:pic>
        <p:nvPicPr>
          <p:cNvPr id="5" name="Picture 4">
            <a:extLst>
              <a:ext uri="{FF2B5EF4-FFF2-40B4-BE49-F238E27FC236}">
                <a16:creationId xmlns:a16="http://schemas.microsoft.com/office/drawing/2014/main" id="{ECDBC02A-900E-FD21-D0AA-E16195035766}"/>
              </a:ext>
            </a:extLst>
          </p:cNvPr>
          <p:cNvPicPr>
            <a:picLocks noChangeAspect="1"/>
          </p:cNvPicPr>
          <p:nvPr/>
        </p:nvPicPr>
        <p:blipFill>
          <a:blip r:embed="rId3"/>
          <a:stretch>
            <a:fillRect/>
          </a:stretch>
        </p:blipFill>
        <p:spPr>
          <a:xfrm>
            <a:off x="9472919" y="3384907"/>
            <a:ext cx="2409825" cy="1895475"/>
          </a:xfrm>
          <a:prstGeom prst="rect">
            <a:avLst/>
          </a:prstGeom>
        </p:spPr>
      </p:pic>
      <p:sp>
        <p:nvSpPr>
          <p:cNvPr id="8" name="Rectangle 7">
            <a:extLst>
              <a:ext uri="{FF2B5EF4-FFF2-40B4-BE49-F238E27FC236}">
                <a16:creationId xmlns:a16="http://schemas.microsoft.com/office/drawing/2014/main" id="{A2010D42-BB7D-38EE-4F29-8190BA4497C7}"/>
              </a:ext>
            </a:extLst>
          </p:cNvPr>
          <p:cNvSpPr/>
          <p:nvPr/>
        </p:nvSpPr>
        <p:spPr>
          <a:xfrm>
            <a:off x="10097729" y="5525729"/>
            <a:ext cx="1425677" cy="475020"/>
          </a:xfrm>
          <a:prstGeom prst="rect">
            <a:avLst/>
          </a:prstGeom>
          <a:solidFill>
            <a:schemeClr val="bg1">
              <a:lumMod val="95000"/>
              <a:lumOff val="5000"/>
            </a:schemeClr>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Average Blur Kernel</a:t>
            </a:r>
          </a:p>
          <a:p>
            <a:pPr algn="ctr"/>
            <a:endParaRPr lang="en-US" dirty="0"/>
          </a:p>
        </p:txBody>
      </p:sp>
    </p:spTree>
    <p:extLst>
      <p:ext uri="{BB962C8B-B14F-4D97-AF65-F5344CB8AC3E}">
        <p14:creationId xmlns:p14="http://schemas.microsoft.com/office/powerpoint/2010/main" val="3018106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F2C48-9CB5-FA37-B1B1-AB91F48F09A3}"/>
              </a:ext>
            </a:extLst>
          </p:cNvPr>
          <p:cNvSpPr>
            <a:spLocks noGrp="1"/>
          </p:cNvSpPr>
          <p:nvPr>
            <p:ph type="title"/>
          </p:nvPr>
        </p:nvSpPr>
        <p:spPr>
          <a:xfrm>
            <a:off x="913795" y="609600"/>
            <a:ext cx="10353762" cy="1533738"/>
          </a:xfrm>
        </p:spPr>
        <p:txBody>
          <a:bodyPr>
            <a:normAutofit/>
          </a:bodyPr>
          <a:lstStyle/>
          <a:p>
            <a:r>
              <a:rPr lang="en-US" dirty="0"/>
              <a:t>But , We Focus Mainly on Gaussian Blur</a:t>
            </a:r>
            <a:br>
              <a:rPr lang="en-US" dirty="0"/>
            </a:br>
            <a:r>
              <a:rPr lang="en-US" dirty="0"/>
              <a:t>As it is the MOST USED!!</a:t>
            </a:r>
          </a:p>
        </p:txBody>
      </p:sp>
      <p:sp>
        <p:nvSpPr>
          <p:cNvPr id="3" name="Content Placeholder 2">
            <a:extLst>
              <a:ext uri="{FF2B5EF4-FFF2-40B4-BE49-F238E27FC236}">
                <a16:creationId xmlns:a16="http://schemas.microsoft.com/office/drawing/2014/main" id="{966485F8-7AA6-DBD3-DF23-322EE31B8C0E}"/>
              </a:ext>
            </a:extLst>
          </p:cNvPr>
          <p:cNvSpPr>
            <a:spLocks noGrp="1"/>
          </p:cNvSpPr>
          <p:nvPr>
            <p:ph idx="1"/>
          </p:nvPr>
        </p:nvSpPr>
        <p:spPr>
          <a:xfrm>
            <a:off x="924444" y="2628387"/>
            <a:ext cx="8486879" cy="3714749"/>
          </a:xfrm>
        </p:spPr>
        <p:txBody>
          <a:bodyPr>
            <a:normAutofit fontScale="92500" lnSpcReduction="10000"/>
          </a:bodyPr>
          <a:lstStyle/>
          <a:p>
            <a:r>
              <a:rPr lang="en-US" dirty="0"/>
              <a:t>It is the most common Blur as it is more controlled and edge preserving than other blurs.</a:t>
            </a:r>
          </a:p>
          <a:p>
            <a:r>
              <a:rPr lang="en-US" dirty="0"/>
              <a:t>a Gaussian blur, the pixels nearest the center of the kernel are given more weight than those far away from the center. The rate at which this weight diminishes is determined by a Gaussian function, hence the name Gaussian blur.</a:t>
            </a:r>
          </a:p>
          <a:p>
            <a:r>
              <a:rPr lang="en-US" dirty="0"/>
              <a:t>The end result is that our image is less blurred, but more “naturally blurred,” than using the average method. Furthermore, based on this weighting we’ll be able to preserve more of the edges in our image as compared to average smoothing.</a:t>
            </a:r>
          </a:p>
          <a:p>
            <a:endParaRPr lang="en-US" dirty="0"/>
          </a:p>
        </p:txBody>
      </p:sp>
      <p:pic>
        <p:nvPicPr>
          <p:cNvPr id="5" name="Picture 4">
            <a:extLst>
              <a:ext uri="{FF2B5EF4-FFF2-40B4-BE49-F238E27FC236}">
                <a16:creationId xmlns:a16="http://schemas.microsoft.com/office/drawing/2014/main" id="{1E97C12E-ADB6-0760-A386-BF8C2021F453}"/>
              </a:ext>
            </a:extLst>
          </p:cNvPr>
          <p:cNvPicPr>
            <a:picLocks noChangeAspect="1"/>
          </p:cNvPicPr>
          <p:nvPr/>
        </p:nvPicPr>
        <p:blipFill>
          <a:blip r:embed="rId2"/>
          <a:stretch>
            <a:fillRect/>
          </a:stretch>
        </p:blipFill>
        <p:spPr>
          <a:xfrm>
            <a:off x="9598136" y="3025262"/>
            <a:ext cx="2410161" cy="1533739"/>
          </a:xfrm>
          <a:prstGeom prst="rect">
            <a:avLst/>
          </a:prstGeom>
        </p:spPr>
      </p:pic>
      <p:sp>
        <p:nvSpPr>
          <p:cNvPr id="9" name="Slide Number Placeholder 8">
            <a:extLst>
              <a:ext uri="{FF2B5EF4-FFF2-40B4-BE49-F238E27FC236}">
                <a16:creationId xmlns:a16="http://schemas.microsoft.com/office/drawing/2014/main" id="{DF7BB9E8-3434-1EDE-00FF-F1ED1C644660}"/>
              </a:ext>
            </a:extLst>
          </p:cNvPr>
          <p:cNvSpPr>
            <a:spLocks noGrp="1"/>
          </p:cNvSpPr>
          <p:nvPr>
            <p:ph type="sldNum" sz="quarter" idx="12"/>
          </p:nvPr>
        </p:nvSpPr>
        <p:spPr/>
        <p:txBody>
          <a:bodyPr/>
          <a:lstStyle/>
          <a:p>
            <a:fld id="{3A98EE3D-8CD1-4C3F-BD1C-C98C9596463C}" type="slidenum">
              <a:rPr lang="en-US" smtClean="0"/>
              <a:t>9</a:t>
            </a:fld>
            <a:endParaRPr lang="en-US" dirty="0"/>
          </a:p>
        </p:txBody>
      </p:sp>
    </p:spTree>
    <p:extLst>
      <p:ext uri="{BB962C8B-B14F-4D97-AF65-F5344CB8AC3E}">
        <p14:creationId xmlns:p14="http://schemas.microsoft.com/office/powerpoint/2010/main" val="15456657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3C8B4-E4C3-2D3F-0A0B-8DB5F7AA1833}"/>
              </a:ext>
            </a:extLst>
          </p:cNvPr>
          <p:cNvSpPr>
            <a:spLocks noGrp="1"/>
          </p:cNvSpPr>
          <p:nvPr>
            <p:ph type="ctrTitle"/>
          </p:nvPr>
        </p:nvSpPr>
        <p:spPr>
          <a:xfrm>
            <a:off x="1370693" y="845308"/>
            <a:ext cx="9440034" cy="1828801"/>
          </a:xfrm>
        </p:spPr>
        <p:txBody>
          <a:bodyPr/>
          <a:lstStyle/>
          <a:p>
            <a:r>
              <a:rPr lang="en-US" dirty="0"/>
              <a:t>So, Now let’s talk about sharpening</a:t>
            </a:r>
          </a:p>
        </p:txBody>
      </p:sp>
      <p:sp>
        <p:nvSpPr>
          <p:cNvPr id="4" name="Slide Number Placeholder 3">
            <a:extLst>
              <a:ext uri="{FF2B5EF4-FFF2-40B4-BE49-F238E27FC236}">
                <a16:creationId xmlns:a16="http://schemas.microsoft.com/office/drawing/2014/main" id="{6B9CB8A1-BFBC-904B-25C2-5FEB543486A6}"/>
              </a:ext>
            </a:extLst>
          </p:cNvPr>
          <p:cNvSpPr>
            <a:spLocks noGrp="1"/>
          </p:cNvSpPr>
          <p:nvPr>
            <p:ph type="sldNum" sz="quarter" idx="12"/>
          </p:nvPr>
        </p:nvSpPr>
        <p:spPr/>
        <p:txBody>
          <a:bodyPr/>
          <a:lstStyle/>
          <a:p>
            <a:fld id="{3A98EE3D-8CD1-4C3F-BD1C-C98C9596463C}" type="slidenum">
              <a:rPr lang="en-US" smtClean="0"/>
              <a:pPr/>
              <a:t>10</a:t>
            </a:fld>
            <a:endParaRPr lang="en-US" dirty="0"/>
          </a:p>
        </p:txBody>
      </p:sp>
      <p:pic>
        <p:nvPicPr>
          <p:cNvPr id="6" name="Picture 5">
            <a:extLst>
              <a:ext uri="{FF2B5EF4-FFF2-40B4-BE49-F238E27FC236}">
                <a16:creationId xmlns:a16="http://schemas.microsoft.com/office/drawing/2014/main" id="{9E4B8340-D430-F791-E50B-511098428F4E}"/>
              </a:ext>
            </a:extLst>
          </p:cNvPr>
          <p:cNvPicPr>
            <a:picLocks noChangeAspect="1"/>
          </p:cNvPicPr>
          <p:nvPr/>
        </p:nvPicPr>
        <p:blipFill>
          <a:blip r:embed="rId2"/>
          <a:stretch>
            <a:fillRect/>
          </a:stretch>
        </p:blipFill>
        <p:spPr>
          <a:xfrm>
            <a:off x="1370693" y="2778500"/>
            <a:ext cx="3847954" cy="3404811"/>
          </a:xfrm>
          <a:prstGeom prst="rect">
            <a:avLst/>
          </a:prstGeom>
        </p:spPr>
      </p:pic>
      <p:pic>
        <p:nvPicPr>
          <p:cNvPr id="8" name="Picture 7">
            <a:extLst>
              <a:ext uri="{FF2B5EF4-FFF2-40B4-BE49-F238E27FC236}">
                <a16:creationId xmlns:a16="http://schemas.microsoft.com/office/drawing/2014/main" id="{1A60280B-B87C-BDB5-6A51-59A810E024F3}"/>
              </a:ext>
            </a:extLst>
          </p:cNvPr>
          <p:cNvPicPr>
            <a:picLocks noChangeAspect="1"/>
          </p:cNvPicPr>
          <p:nvPr/>
        </p:nvPicPr>
        <p:blipFill>
          <a:blip r:embed="rId3"/>
          <a:stretch>
            <a:fillRect/>
          </a:stretch>
        </p:blipFill>
        <p:spPr>
          <a:xfrm>
            <a:off x="7402970" y="2781066"/>
            <a:ext cx="3847954" cy="3402245"/>
          </a:xfrm>
          <a:prstGeom prst="rect">
            <a:avLst/>
          </a:prstGeom>
        </p:spPr>
      </p:pic>
      <p:sp>
        <p:nvSpPr>
          <p:cNvPr id="9" name="Arrow: Right 8">
            <a:extLst>
              <a:ext uri="{FF2B5EF4-FFF2-40B4-BE49-F238E27FC236}">
                <a16:creationId xmlns:a16="http://schemas.microsoft.com/office/drawing/2014/main" id="{2B2CF2DE-4ACD-523C-7CE9-133857A5AFE6}"/>
              </a:ext>
            </a:extLst>
          </p:cNvPr>
          <p:cNvSpPr/>
          <p:nvPr/>
        </p:nvSpPr>
        <p:spPr>
          <a:xfrm>
            <a:off x="5533697" y="4114800"/>
            <a:ext cx="1655379" cy="6779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2121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082EB-E537-624A-B07C-A494097E4E41}"/>
              </a:ext>
            </a:extLst>
          </p:cNvPr>
          <p:cNvSpPr>
            <a:spLocks noGrp="1"/>
          </p:cNvSpPr>
          <p:nvPr>
            <p:ph type="ctrTitle"/>
          </p:nvPr>
        </p:nvSpPr>
        <p:spPr/>
        <p:txBody>
          <a:bodyPr/>
          <a:lstStyle/>
          <a:p>
            <a:r>
              <a:rPr lang="en-US" dirty="0"/>
              <a:t>What is Sharpening?</a:t>
            </a:r>
          </a:p>
        </p:txBody>
      </p:sp>
      <p:sp>
        <p:nvSpPr>
          <p:cNvPr id="3" name="Subtitle 2">
            <a:extLst>
              <a:ext uri="{FF2B5EF4-FFF2-40B4-BE49-F238E27FC236}">
                <a16:creationId xmlns:a16="http://schemas.microsoft.com/office/drawing/2014/main" id="{AE311F9B-EC29-0E95-CC2A-81057884C19F}"/>
              </a:ext>
            </a:extLst>
          </p:cNvPr>
          <p:cNvSpPr>
            <a:spLocks noGrp="1"/>
          </p:cNvSpPr>
          <p:nvPr>
            <p:ph type="subTitle" idx="1"/>
          </p:nvPr>
        </p:nvSpPr>
        <p:spPr/>
        <p:txBody>
          <a:bodyPr/>
          <a:lstStyle/>
          <a:p>
            <a:r>
              <a:rPr lang="en-US" dirty="0"/>
              <a:t>Sharpening is the opposite of Blurring an image</a:t>
            </a:r>
          </a:p>
        </p:txBody>
      </p:sp>
      <p:sp>
        <p:nvSpPr>
          <p:cNvPr id="4" name="Slide Number Placeholder 3">
            <a:extLst>
              <a:ext uri="{FF2B5EF4-FFF2-40B4-BE49-F238E27FC236}">
                <a16:creationId xmlns:a16="http://schemas.microsoft.com/office/drawing/2014/main" id="{0F4ADE6B-A037-6F6E-B421-06AA3F0D211F}"/>
              </a:ext>
            </a:extLst>
          </p:cNvPr>
          <p:cNvSpPr>
            <a:spLocks noGrp="1"/>
          </p:cNvSpPr>
          <p:nvPr>
            <p:ph type="sldNum" sz="quarter" idx="12"/>
          </p:nvPr>
        </p:nvSpPr>
        <p:spPr/>
        <p:txBody>
          <a:bodyPr/>
          <a:lstStyle/>
          <a:p>
            <a:fld id="{3A98EE3D-8CD1-4C3F-BD1C-C98C9596463C}" type="slidenum">
              <a:rPr lang="en-US" smtClean="0"/>
              <a:pPr/>
              <a:t>11</a:t>
            </a:fld>
            <a:endParaRPr lang="en-US" dirty="0"/>
          </a:p>
        </p:txBody>
      </p:sp>
    </p:spTree>
    <p:extLst>
      <p:ext uri="{BB962C8B-B14F-4D97-AF65-F5344CB8AC3E}">
        <p14:creationId xmlns:p14="http://schemas.microsoft.com/office/powerpoint/2010/main" val="3451174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944F9-1C6E-436F-7555-3A56AA52F9D0}"/>
              </a:ext>
            </a:extLst>
          </p:cNvPr>
          <p:cNvSpPr>
            <a:spLocks noGrp="1"/>
          </p:cNvSpPr>
          <p:nvPr>
            <p:ph type="ctrTitle"/>
          </p:nvPr>
        </p:nvSpPr>
        <p:spPr>
          <a:xfrm>
            <a:off x="1375983" y="1193546"/>
            <a:ext cx="9440034" cy="1828801"/>
          </a:xfrm>
        </p:spPr>
        <p:txBody>
          <a:bodyPr/>
          <a:lstStyle/>
          <a:p>
            <a:r>
              <a:rPr lang="en-US" dirty="0"/>
              <a:t>What is the importance of sharpening?</a:t>
            </a:r>
          </a:p>
        </p:txBody>
      </p:sp>
      <p:sp>
        <p:nvSpPr>
          <p:cNvPr id="3" name="Subtitle 2">
            <a:extLst>
              <a:ext uri="{FF2B5EF4-FFF2-40B4-BE49-F238E27FC236}">
                <a16:creationId xmlns:a16="http://schemas.microsoft.com/office/drawing/2014/main" id="{5D966B21-88D8-43C9-5341-416000CB6308}"/>
              </a:ext>
            </a:extLst>
          </p:cNvPr>
          <p:cNvSpPr>
            <a:spLocks noGrp="1"/>
          </p:cNvSpPr>
          <p:nvPr>
            <p:ph type="subTitle" idx="1"/>
          </p:nvPr>
        </p:nvSpPr>
        <p:spPr>
          <a:xfrm>
            <a:off x="1528009" y="3429000"/>
            <a:ext cx="9440034" cy="2571749"/>
          </a:xfrm>
        </p:spPr>
        <p:txBody>
          <a:bodyPr>
            <a:normAutofit fontScale="92500"/>
          </a:bodyPr>
          <a:lstStyle/>
          <a:p>
            <a:pPr marL="342900" indent="-342900" algn="l">
              <a:buFont typeface="Arial" panose="020B0604020202020204" pitchFamily="34" charset="0"/>
              <a:buChar char="•"/>
            </a:pPr>
            <a:r>
              <a:rPr lang="en-US" dirty="0"/>
              <a:t>Enhance edges and details: Sharpening techniques work by increasing the contrast along the edges of objects within an image. This process makes the edges more pronounced, helping to distinguish different elements of the image more clearly.</a:t>
            </a:r>
          </a:p>
          <a:p>
            <a:pPr marL="342900" indent="-342900" algn="l">
              <a:buFont typeface="Arial" panose="020B0604020202020204" pitchFamily="34" charset="0"/>
              <a:buChar char="•"/>
            </a:pPr>
            <a:endParaRPr lang="en-US" dirty="0"/>
          </a:p>
          <a:p>
            <a:pPr marL="342900" indent="-342900" algn="l">
              <a:buFont typeface="Arial" panose="020B0604020202020204" pitchFamily="34" charset="0"/>
              <a:buChar char="•"/>
            </a:pPr>
            <a:r>
              <a:rPr lang="en-US" b="1" dirty="0"/>
              <a:t>Blur Reduction:</a:t>
            </a:r>
            <a:r>
              <a:rPr lang="en-US" dirty="0"/>
              <a:t> While sharpening cannot completely remove motion blur, it can reduce its impact, making the image appear more focused and clear.</a:t>
            </a:r>
          </a:p>
        </p:txBody>
      </p:sp>
      <p:sp>
        <p:nvSpPr>
          <p:cNvPr id="4" name="Slide Number Placeholder 3">
            <a:extLst>
              <a:ext uri="{FF2B5EF4-FFF2-40B4-BE49-F238E27FC236}">
                <a16:creationId xmlns:a16="http://schemas.microsoft.com/office/drawing/2014/main" id="{9C3948A3-BA58-B597-E7DC-09EA20A8DF2A}"/>
              </a:ext>
            </a:extLst>
          </p:cNvPr>
          <p:cNvSpPr>
            <a:spLocks noGrp="1"/>
          </p:cNvSpPr>
          <p:nvPr>
            <p:ph type="sldNum" sz="quarter" idx="12"/>
          </p:nvPr>
        </p:nvSpPr>
        <p:spPr/>
        <p:txBody>
          <a:bodyPr/>
          <a:lstStyle/>
          <a:p>
            <a:fld id="{3A98EE3D-8CD1-4C3F-BD1C-C98C9596463C}" type="slidenum">
              <a:rPr lang="en-US" smtClean="0"/>
              <a:pPr/>
              <a:t>12</a:t>
            </a:fld>
            <a:endParaRPr lang="en-US" dirty="0"/>
          </a:p>
        </p:txBody>
      </p:sp>
    </p:spTree>
    <p:extLst>
      <p:ext uri="{BB962C8B-B14F-4D97-AF65-F5344CB8AC3E}">
        <p14:creationId xmlns:p14="http://schemas.microsoft.com/office/powerpoint/2010/main" val="1971723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C5157-D02A-6582-6708-E55056EF3645}"/>
              </a:ext>
            </a:extLst>
          </p:cNvPr>
          <p:cNvSpPr>
            <a:spLocks noGrp="1"/>
          </p:cNvSpPr>
          <p:nvPr>
            <p:ph type="ctrTitle"/>
          </p:nvPr>
        </p:nvSpPr>
        <p:spPr>
          <a:xfrm>
            <a:off x="1370693" y="843920"/>
            <a:ext cx="9440034" cy="1828801"/>
          </a:xfrm>
        </p:spPr>
        <p:txBody>
          <a:bodyPr/>
          <a:lstStyle/>
          <a:p>
            <a:r>
              <a:rPr lang="en-US" dirty="0"/>
              <a:t>Finally, It is time for Edge Detection!</a:t>
            </a:r>
          </a:p>
        </p:txBody>
      </p:sp>
      <p:sp>
        <p:nvSpPr>
          <p:cNvPr id="4" name="Slide Number Placeholder 3">
            <a:extLst>
              <a:ext uri="{FF2B5EF4-FFF2-40B4-BE49-F238E27FC236}">
                <a16:creationId xmlns:a16="http://schemas.microsoft.com/office/drawing/2014/main" id="{9DA98F68-24CD-3E4D-96A3-AF3FF005A348}"/>
              </a:ext>
            </a:extLst>
          </p:cNvPr>
          <p:cNvSpPr>
            <a:spLocks noGrp="1"/>
          </p:cNvSpPr>
          <p:nvPr>
            <p:ph type="sldNum" sz="quarter" idx="12"/>
          </p:nvPr>
        </p:nvSpPr>
        <p:spPr/>
        <p:txBody>
          <a:bodyPr/>
          <a:lstStyle/>
          <a:p>
            <a:fld id="{3A98EE3D-8CD1-4C3F-BD1C-C98C9596463C}" type="slidenum">
              <a:rPr lang="en-US" smtClean="0"/>
              <a:pPr/>
              <a:t>13</a:t>
            </a:fld>
            <a:endParaRPr lang="en-US" dirty="0"/>
          </a:p>
        </p:txBody>
      </p:sp>
      <p:pic>
        <p:nvPicPr>
          <p:cNvPr id="8" name="Picture 7">
            <a:extLst>
              <a:ext uri="{FF2B5EF4-FFF2-40B4-BE49-F238E27FC236}">
                <a16:creationId xmlns:a16="http://schemas.microsoft.com/office/drawing/2014/main" id="{BDA762DF-CB30-CA6C-FD6E-A7E026BF1787}"/>
              </a:ext>
            </a:extLst>
          </p:cNvPr>
          <p:cNvPicPr>
            <a:picLocks noChangeAspect="1"/>
          </p:cNvPicPr>
          <p:nvPr/>
        </p:nvPicPr>
        <p:blipFill>
          <a:blip r:embed="rId2"/>
          <a:stretch>
            <a:fillRect/>
          </a:stretch>
        </p:blipFill>
        <p:spPr>
          <a:xfrm>
            <a:off x="1381273" y="2880004"/>
            <a:ext cx="3805582" cy="3235662"/>
          </a:xfrm>
          <a:prstGeom prst="rect">
            <a:avLst/>
          </a:prstGeom>
        </p:spPr>
      </p:pic>
      <p:pic>
        <p:nvPicPr>
          <p:cNvPr id="10" name="Picture 9">
            <a:extLst>
              <a:ext uri="{FF2B5EF4-FFF2-40B4-BE49-F238E27FC236}">
                <a16:creationId xmlns:a16="http://schemas.microsoft.com/office/drawing/2014/main" id="{2D2D683B-BC8C-0A52-773F-91AD8475C441}"/>
              </a:ext>
            </a:extLst>
          </p:cNvPr>
          <p:cNvPicPr>
            <a:picLocks noChangeAspect="1"/>
          </p:cNvPicPr>
          <p:nvPr/>
        </p:nvPicPr>
        <p:blipFill>
          <a:blip r:embed="rId3"/>
          <a:stretch>
            <a:fillRect/>
          </a:stretch>
        </p:blipFill>
        <p:spPr>
          <a:xfrm>
            <a:off x="7383528" y="2880002"/>
            <a:ext cx="3805582" cy="3235663"/>
          </a:xfrm>
          <a:prstGeom prst="rect">
            <a:avLst/>
          </a:prstGeom>
        </p:spPr>
      </p:pic>
      <p:sp>
        <p:nvSpPr>
          <p:cNvPr id="11" name="Arrow: Right 10">
            <a:extLst>
              <a:ext uri="{FF2B5EF4-FFF2-40B4-BE49-F238E27FC236}">
                <a16:creationId xmlns:a16="http://schemas.microsoft.com/office/drawing/2014/main" id="{7C79CBDC-B740-8250-618F-7C14D860C065}"/>
              </a:ext>
            </a:extLst>
          </p:cNvPr>
          <p:cNvSpPr/>
          <p:nvPr/>
        </p:nvSpPr>
        <p:spPr>
          <a:xfrm>
            <a:off x="5457502" y="4114800"/>
            <a:ext cx="1655379" cy="6779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9546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66EDA-319E-4CEB-F64B-48E56701ECB5}"/>
              </a:ext>
            </a:extLst>
          </p:cNvPr>
          <p:cNvSpPr>
            <a:spLocks noGrp="1"/>
          </p:cNvSpPr>
          <p:nvPr>
            <p:ph type="ctrTitle"/>
          </p:nvPr>
        </p:nvSpPr>
        <p:spPr>
          <a:xfrm>
            <a:off x="1450749" y="434494"/>
            <a:ext cx="9440034" cy="1273205"/>
          </a:xfrm>
        </p:spPr>
        <p:txBody>
          <a:bodyPr/>
          <a:lstStyle/>
          <a:p>
            <a:r>
              <a:rPr lang="en-US" dirty="0"/>
              <a:t>What is Edge Detection?</a:t>
            </a:r>
          </a:p>
        </p:txBody>
      </p:sp>
      <p:sp>
        <p:nvSpPr>
          <p:cNvPr id="3" name="Subtitle 2">
            <a:extLst>
              <a:ext uri="{FF2B5EF4-FFF2-40B4-BE49-F238E27FC236}">
                <a16:creationId xmlns:a16="http://schemas.microsoft.com/office/drawing/2014/main" id="{872A9314-0784-24D5-5170-4BB9AC8E4C7C}"/>
              </a:ext>
            </a:extLst>
          </p:cNvPr>
          <p:cNvSpPr>
            <a:spLocks noGrp="1"/>
          </p:cNvSpPr>
          <p:nvPr>
            <p:ph type="subTitle" idx="1"/>
          </p:nvPr>
        </p:nvSpPr>
        <p:spPr>
          <a:xfrm>
            <a:off x="1370693" y="2017986"/>
            <a:ext cx="6613101" cy="4405520"/>
          </a:xfrm>
        </p:spPr>
        <p:txBody>
          <a:bodyPr>
            <a:normAutofit/>
          </a:bodyPr>
          <a:lstStyle/>
          <a:p>
            <a:pPr algn="l"/>
            <a:r>
              <a:rPr lang="en-US" dirty="0"/>
              <a:t>It is simply a case of trying to find the regions in an image where we have a sharp change in intensity or in color . As the greater change in intensity, the more likely that that portion of the image represents an edge.</a:t>
            </a:r>
          </a:p>
          <a:p>
            <a:pPr algn="l"/>
            <a:r>
              <a:rPr lang="en-US" dirty="0"/>
              <a:t> There are three types of Edge detection:</a:t>
            </a:r>
          </a:p>
          <a:p>
            <a:pPr algn="l"/>
            <a:r>
              <a:rPr lang="en-US" dirty="0"/>
              <a:t>1- Laplacian detection</a:t>
            </a:r>
          </a:p>
          <a:p>
            <a:pPr algn="l"/>
            <a:r>
              <a:rPr lang="en-US" dirty="0"/>
              <a:t>2- Sobel Detection</a:t>
            </a:r>
          </a:p>
          <a:p>
            <a:pPr algn="l"/>
            <a:r>
              <a:rPr lang="en-US" dirty="0"/>
              <a:t>3-Canny Detection (Best one)</a:t>
            </a:r>
          </a:p>
          <a:p>
            <a:pPr algn="l"/>
            <a:endParaRPr lang="en-US" dirty="0"/>
          </a:p>
        </p:txBody>
      </p:sp>
      <p:sp>
        <p:nvSpPr>
          <p:cNvPr id="4" name="Slide Number Placeholder 3">
            <a:extLst>
              <a:ext uri="{FF2B5EF4-FFF2-40B4-BE49-F238E27FC236}">
                <a16:creationId xmlns:a16="http://schemas.microsoft.com/office/drawing/2014/main" id="{A2F1C5BE-1EE1-4FE0-1124-A750E61F89AF}"/>
              </a:ext>
            </a:extLst>
          </p:cNvPr>
          <p:cNvSpPr>
            <a:spLocks noGrp="1"/>
          </p:cNvSpPr>
          <p:nvPr>
            <p:ph type="sldNum" sz="quarter" idx="12"/>
          </p:nvPr>
        </p:nvSpPr>
        <p:spPr/>
        <p:txBody>
          <a:bodyPr/>
          <a:lstStyle/>
          <a:p>
            <a:fld id="{3A98EE3D-8CD1-4C3F-BD1C-C98C9596463C}" type="slidenum">
              <a:rPr lang="en-US" smtClean="0"/>
              <a:pPr/>
              <a:t>14</a:t>
            </a:fld>
            <a:endParaRPr lang="en-US" dirty="0"/>
          </a:p>
        </p:txBody>
      </p:sp>
      <p:pic>
        <p:nvPicPr>
          <p:cNvPr id="5" name="Picture 4">
            <a:extLst>
              <a:ext uri="{FF2B5EF4-FFF2-40B4-BE49-F238E27FC236}">
                <a16:creationId xmlns:a16="http://schemas.microsoft.com/office/drawing/2014/main" id="{CC577B33-C435-EF52-3A08-14540C493F06}"/>
              </a:ext>
            </a:extLst>
          </p:cNvPr>
          <p:cNvPicPr>
            <a:picLocks noChangeAspect="1"/>
          </p:cNvPicPr>
          <p:nvPr/>
        </p:nvPicPr>
        <p:blipFill>
          <a:blip r:embed="rId2"/>
          <a:stretch>
            <a:fillRect/>
          </a:stretch>
        </p:blipFill>
        <p:spPr>
          <a:xfrm>
            <a:off x="8244203" y="1958934"/>
            <a:ext cx="3353091" cy="2261812"/>
          </a:xfrm>
          <a:prstGeom prst="rect">
            <a:avLst/>
          </a:prstGeom>
        </p:spPr>
      </p:pic>
    </p:spTree>
    <p:extLst>
      <p:ext uri="{BB962C8B-B14F-4D97-AF65-F5344CB8AC3E}">
        <p14:creationId xmlns:p14="http://schemas.microsoft.com/office/powerpoint/2010/main" val="35516508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7090E9-0DAE-6142-02C3-48709F5976B7}"/>
              </a:ext>
            </a:extLst>
          </p:cNvPr>
          <p:cNvSpPr>
            <a:spLocks noGrp="1"/>
          </p:cNvSpPr>
          <p:nvPr>
            <p:ph type="title"/>
          </p:nvPr>
        </p:nvSpPr>
        <p:spPr>
          <a:xfrm>
            <a:off x="837905" y="578069"/>
            <a:ext cx="10353762" cy="1257300"/>
          </a:xfrm>
        </p:spPr>
        <p:txBody>
          <a:bodyPr/>
          <a:lstStyle/>
          <a:p>
            <a:r>
              <a:rPr lang="en-US" dirty="0"/>
              <a:t>Sobel Filter</a:t>
            </a:r>
          </a:p>
        </p:txBody>
      </p:sp>
      <p:sp>
        <p:nvSpPr>
          <p:cNvPr id="3" name="Content Placeholder 2">
            <a:extLst>
              <a:ext uri="{FF2B5EF4-FFF2-40B4-BE49-F238E27FC236}">
                <a16:creationId xmlns:a16="http://schemas.microsoft.com/office/drawing/2014/main" id="{3C2335FD-0E5A-6CFA-E687-60124197F62E}"/>
              </a:ext>
            </a:extLst>
          </p:cNvPr>
          <p:cNvSpPr>
            <a:spLocks noGrp="1"/>
          </p:cNvSpPr>
          <p:nvPr>
            <p:ph idx="1"/>
          </p:nvPr>
        </p:nvSpPr>
        <p:spPr>
          <a:xfrm>
            <a:off x="393056" y="1835369"/>
            <a:ext cx="8327573" cy="4647433"/>
          </a:xfrm>
        </p:spPr>
        <p:txBody>
          <a:bodyPr>
            <a:normAutofit fontScale="92500" lnSpcReduction="20000"/>
          </a:bodyPr>
          <a:lstStyle/>
          <a:p>
            <a:r>
              <a:rPr lang="en-US" dirty="0"/>
              <a:t>Sobel X: helps to emphasize vertical edges by calculating the gradient in the horizontal direction</a:t>
            </a:r>
          </a:p>
          <a:p>
            <a:r>
              <a:rPr lang="en-US" dirty="0"/>
              <a:t>Sobel Y: helps to emphasize Horizontal edges by calculating the gradient in the vertical direction</a:t>
            </a:r>
          </a:p>
          <a:p>
            <a:pPr marL="36900" indent="0">
              <a:buNone/>
            </a:pPr>
            <a:endParaRPr lang="en-US" dirty="0"/>
          </a:p>
          <a:p>
            <a:r>
              <a:rPr lang="en-US" dirty="0"/>
              <a:t>The results of Convolution:</a:t>
            </a:r>
          </a:p>
          <a:p>
            <a:pPr marL="36900" indent="0">
              <a:buNone/>
            </a:pPr>
            <a:r>
              <a:rPr lang="en-US" dirty="0"/>
              <a:t>Positive Values: Indicate that the pixel is part of an edge where intensity increases from left to right or from up to down.</a:t>
            </a:r>
          </a:p>
          <a:p>
            <a:pPr marL="36900" indent="0">
              <a:buNone/>
            </a:pPr>
            <a:r>
              <a:rPr lang="en-US" dirty="0"/>
              <a:t>Negative Values: Indicate that the pixel is part of an edge where intensity decreases from left to right or from up to down.</a:t>
            </a:r>
          </a:p>
          <a:p>
            <a:pPr marL="36900" indent="0">
              <a:buNone/>
            </a:pPr>
            <a:r>
              <a:rPr lang="en-US" dirty="0"/>
              <a:t>Zero Values: Indicate areas where there is little to no change in intensity in the horizontal direction</a:t>
            </a:r>
          </a:p>
          <a:p>
            <a:endParaRPr lang="en-US" dirty="0"/>
          </a:p>
        </p:txBody>
      </p:sp>
      <p:sp>
        <p:nvSpPr>
          <p:cNvPr id="4" name="Slide Number Placeholder 3">
            <a:extLst>
              <a:ext uri="{FF2B5EF4-FFF2-40B4-BE49-F238E27FC236}">
                <a16:creationId xmlns:a16="http://schemas.microsoft.com/office/drawing/2014/main" id="{8938B7B8-0C02-2C58-94F0-9EE17865069B}"/>
              </a:ext>
            </a:extLst>
          </p:cNvPr>
          <p:cNvSpPr>
            <a:spLocks noGrp="1"/>
          </p:cNvSpPr>
          <p:nvPr>
            <p:ph type="sldNum" sz="quarter" idx="12"/>
          </p:nvPr>
        </p:nvSpPr>
        <p:spPr/>
        <p:txBody>
          <a:bodyPr/>
          <a:lstStyle/>
          <a:p>
            <a:fld id="{3A98EE3D-8CD1-4C3F-BD1C-C98C9596463C}" type="slidenum">
              <a:rPr lang="en-US" smtClean="0"/>
              <a:t>15</a:t>
            </a:fld>
            <a:endParaRPr lang="en-US" dirty="0"/>
          </a:p>
        </p:txBody>
      </p:sp>
      <p:pic>
        <p:nvPicPr>
          <p:cNvPr id="6" name="Picture 5">
            <a:extLst>
              <a:ext uri="{FF2B5EF4-FFF2-40B4-BE49-F238E27FC236}">
                <a16:creationId xmlns:a16="http://schemas.microsoft.com/office/drawing/2014/main" id="{7F69FCE4-7B61-3791-0317-216B66D7C927}"/>
              </a:ext>
            </a:extLst>
          </p:cNvPr>
          <p:cNvPicPr>
            <a:picLocks noChangeAspect="1"/>
          </p:cNvPicPr>
          <p:nvPr/>
        </p:nvPicPr>
        <p:blipFill>
          <a:blip r:embed="rId2"/>
          <a:stretch>
            <a:fillRect/>
          </a:stretch>
        </p:blipFill>
        <p:spPr>
          <a:xfrm>
            <a:off x="9176883" y="1746190"/>
            <a:ext cx="1800476" cy="1781424"/>
          </a:xfrm>
          <a:prstGeom prst="rect">
            <a:avLst/>
          </a:prstGeom>
        </p:spPr>
      </p:pic>
      <p:pic>
        <p:nvPicPr>
          <p:cNvPr id="8" name="Picture 7">
            <a:extLst>
              <a:ext uri="{FF2B5EF4-FFF2-40B4-BE49-F238E27FC236}">
                <a16:creationId xmlns:a16="http://schemas.microsoft.com/office/drawing/2014/main" id="{1513FC11-9F49-AEB0-4A97-1E2ACDA0DE6E}"/>
              </a:ext>
            </a:extLst>
          </p:cNvPr>
          <p:cNvPicPr>
            <a:picLocks noChangeAspect="1"/>
          </p:cNvPicPr>
          <p:nvPr/>
        </p:nvPicPr>
        <p:blipFill>
          <a:blip r:embed="rId3"/>
          <a:stretch>
            <a:fillRect/>
          </a:stretch>
        </p:blipFill>
        <p:spPr>
          <a:xfrm>
            <a:off x="9176883" y="3944125"/>
            <a:ext cx="1800476" cy="1810003"/>
          </a:xfrm>
          <a:prstGeom prst="rect">
            <a:avLst/>
          </a:prstGeom>
        </p:spPr>
      </p:pic>
      <p:sp>
        <p:nvSpPr>
          <p:cNvPr id="10" name="Rectangle 2">
            <a:extLst>
              <a:ext uri="{FF2B5EF4-FFF2-40B4-BE49-F238E27FC236}">
                <a16:creationId xmlns:a16="http://schemas.microsoft.com/office/drawing/2014/main" id="{C5A75456-8120-97A3-0C9E-F4264CC4C855}"/>
              </a:ext>
            </a:extLst>
          </p:cNvPr>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448466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CD2153-E584-F5BC-BE71-BEE955A07E9B}"/>
              </a:ext>
            </a:extLst>
          </p:cNvPr>
          <p:cNvSpPr>
            <a:spLocks noGrp="1"/>
          </p:cNvSpPr>
          <p:nvPr>
            <p:ph type="ctrTitle"/>
          </p:nvPr>
        </p:nvSpPr>
        <p:spPr>
          <a:xfrm>
            <a:off x="1370693" y="602893"/>
            <a:ext cx="9440034" cy="1304736"/>
          </a:xfrm>
        </p:spPr>
        <p:txBody>
          <a:bodyPr/>
          <a:lstStyle/>
          <a:p>
            <a:r>
              <a:rPr lang="en-US" dirty="0"/>
              <a:t>Canny Filter</a:t>
            </a:r>
          </a:p>
        </p:txBody>
      </p:sp>
      <p:sp>
        <p:nvSpPr>
          <p:cNvPr id="3" name="Subtitle 2">
            <a:extLst>
              <a:ext uri="{FF2B5EF4-FFF2-40B4-BE49-F238E27FC236}">
                <a16:creationId xmlns:a16="http://schemas.microsoft.com/office/drawing/2014/main" id="{7F43B364-2E63-ED3B-7858-D21EEA8676B1}"/>
              </a:ext>
            </a:extLst>
          </p:cNvPr>
          <p:cNvSpPr>
            <a:spLocks noGrp="1"/>
          </p:cNvSpPr>
          <p:nvPr>
            <p:ph type="subTitle" idx="1"/>
          </p:nvPr>
        </p:nvSpPr>
        <p:spPr>
          <a:xfrm>
            <a:off x="1370693" y="2506717"/>
            <a:ext cx="9440034" cy="3748390"/>
          </a:xfrm>
        </p:spPr>
        <p:txBody>
          <a:bodyPr>
            <a:normAutofit/>
          </a:bodyPr>
          <a:lstStyle/>
          <a:p>
            <a:pPr marL="342900" indent="-342900" algn="l">
              <a:buFont typeface="Arial" panose="020B0604020202020204" pitchFamily="34" charset="0"/>
              <a:buChar char="•"/>
            </a:pPr>
            <a:r>
              <a:rPr lang="en-US" dirty="0"/>
              <a:t>It works by taking the image from the Sobel output and thinning all the edges so they are 1 pixel wide.</a:t>
            </a:r>
          </a:p>
          <a:p>
            <a:pPr marL="342900" indent="-342900" algn="l">
              <a:buFont typeface="Arial" panose="020B0604020202020204" pitchFamily="34" charset="0"/>
              <a:buChar char="•"/>
            </a:pPr>
            <a:r>
              <a:rPr lang="en-US" dirty="0"/>
              <a:t>Then , It applies a threshold to differentiate between strong and weak edges, and it tracks these edges to form continuous, well-defined edges throughout the image.</a:t>
            </a:r>
          </a:p>
          <a:p>
            <a:pPr marL="342900" indent="-342900" algn="l">
              <a:buFont typeface="Arial" panose="020B0604020202020204" pitchFamily="34" charset="0"/>
              <a:buChar char="•"/>
            </a:pPr>
            <a:r>
              <a:rPr lang="en-US" dirty="0"/>
              <a:t>This final output highlights the strongest edges, giving a clean and accurate edge map of the image</a:t>
            </a:r>
          </a:p>
        </p:txBody>
      </p:sp>
      <p:sp>
        <p:nvSpPr>
          <p:cNvPr id="4" name="Slide Number Placeholder 3">
            <a:extLst>
              <a:ext uri="{FF2B5EF4-FFF2-40B4-BE49-F238E27FC236}">
                <a16:creationId xmlns:a16="http://schemas.microsoft.com/office/drawing/2014/main" id="{58657770-07DE-6880-851B-56A566E886C8}"/>
              </a:ext>
            </a:extLst>
          </p:cNvPr>
          <p:cNvSpPr>
            <a:spLocks noGrp="1"/>
          </p:cNvSpPr>
          <p:nvPr>
            <p:ph type="sldNum" sz="quarter" idx="12"/>
          </p:nvPr>
        </p:nvSpPr>
        <p:spPr/>
        <p:txBody>
          <a:bodyPr/>
          <a:lstStyle/>
          <a:p>
            <a:fld id="{3A98EE3D-8CD1-4C3F-BD1C-C98C9596463C}" type="slidenum">
              <a:rPr lang="en-US" smtClean="0"/>
              <a:pPr/>
              <a:t>16</a:t>
            </a:fld>
            <a:endParaRPr lang="en-US" dirty="0"/>
          </a:p>
        </p:txBody>
      </p:sp>
      <p:pic>
        <p:nvPicPr>
          <p:cNvPr id="6" name="Picture 5">
            <a:extLst>
              <a:ext uri="{FF2B5EF4-FFF2-40B4-BE49-F238E27FC236}">
                <a16:creationId xmlns:a16="http://schemas.microsoft.com/office/drawing/2014/main" id="{2D34DC71-5B6C-0001-2626-D1B932679567}"/>
              </a:ext>
            </a:extLst>
          </p:cNvPr>
          <p:cNvPicPr>
            <a:picLocks noChangeAspect="1"/>
          </p:cNvPicPr>
          <p:nvPr/>
        </p:nvPicPr>
        <p:blipFill>
          <a:blip r:embed="rId2"/>
          <a:stretch>
            <a:fillRect/>
          </a:stretch>
        </p:blipFill>
        <p:spPr>
          <a:xfrm>
            <a:off x="392383" y="214401"/>
            <a:ext cx="1956619" cy="1855165"/>
          </a:xfrm>
          <a:prstGeom prst="rect">
            <a:avLst/>
          </a:prstGeom>
        </p:spPr>
      </p:pic>
      <p:pic>
        <p:nvPicPr>
          <p:cNvPr id="8" name="Picture 7">
            <a:extLst>
              <a:ext uri="{FF2B5EF4-FFF2-40B4-BE49-F238E27FC236}">
                <a16:creationId xmlns:a16="http://schemas.microsoft.com/office/drawing/2014/main" id="{2B3D0C47-159E-C8B7-7965-3F3F40A6F2A9}"/>
              </a:ext>
            </a:extLst>
          </p:cNvPr>
          <p:cNvPicPr>
            <a:picLocks noChangeAspect="1"/>
          </p:cNvPicPr>
          <p:nvPr/>
        </p:nvPicPr>
        <p:blipFill>
          <a:blip r:embed="rId3"/>
          <a:stretch>
            <a:fillRect/>
          </a:stretch>
        </p:blipFill>
        <p:spPr>
          <a:xfrm>
            <a:off x="9912473" y="214401"/>
            <a:ext cx="1956619" cy="1886282"/>
          </a:xfrm>
          <a:prstGeom prst="rect">
            <a:avLst/>
          </a:prstGeom>
        </p:spPr>
      </p:pic>
      <p:sp>
        <p:nvSpPr>
          <p:cNvPr id="9" name="Rectangle 8">
            <a:extLst>
              <a:ext uri="{FF2B5EF4-FFF2-40B4-BE49-F238E27FC236}">
                <a16:creationId xmlns:a16="http://schemas.microsoft.com/office/drawing/2014/main" id="{8190A5A6-4BF8-D01D-3D06-F67E8D905CD1}"/>
              </a:ext>
            </a:extLst>
          </p:cNvPr>
          <p:cNvSpPr/>
          <p:nvPr/>
        </p:nvSpPr>
        <p:spPr>
          <a:xfrm>
            <a:off x="783707" y="2159508"/>
            <a:ext cx="1173970" cy="350840"/>
          </a:xfrm>
          <a:prstGeom prst="rect">
            <a:avLst/>
          </a:prstGeom>
          <a:solidFill>
            <a:schemeClr val="bg1">
              <a:lumMod val="95000"/>
              <a:lumOff val="5000"/>
            </a:schemeClr>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Canny</a:t>
            </a:r>
          </a:p>
        </p:txBody>
      </p:sp>
      <p:sp>
        <p:nvSpPr>
          <p:cNvPr id="10" name="Rectangle 9">
            <a:extLst>
              <a:ext uri="{FF2B5EF4-FFF2-40B4-BE49-F238E27FC236}">
                <a16:creationId xmlns:a16="http://schemas.microsoft.com/office/drawing/2014/main" id="{28B0F1EB-7446-46FC-3EB6-BDF4E6578B4B}"/>
              </a:ext>
            </a:extLst>
          </p:cNvPr>
          <p:cNvSpPr/>
          <p:nvPr/>
        </p:nvSpPr>
        <p:spPr>
          <a:xfrm>
            <a:off x="10303797" y="2286898"/>
            <a:ext cx="1173970" cy="350840"/>
          </a:xfrm>
          <a:prstGeom prst="rect">
            <a:avLst/>
          </a:prstGeom>
          <a:solidFill>
            <a:schemeClr val="bg1">
              <a:lumMod val="95000"/>
              <a:lumOff val="5000"/>
            </a:schemeClr>
          </a:solidFill>
          <a:ln>
            <a:solidFill>
              <a:schemeClr val="bg1">
                <a:lumMod val="95000"/>
                <a:lumOff val="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Sobel</a:t>
            </a:r>
          </a:p>
        </p:txBody>
      </p:sp>
    </p:spTree>
    <p:extLst>
      <p:ext uri="{BB962C8B-B14F-4D97-AF65-F5344CB8AC3E}">
        <p14:creationId xmlns:p14="http://schemas.microsoft.com/office/powerpoint/2010/main" val="38907345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CA57A-C897-A7DD-C0FF-FE7BE9A6C2D4}"/>
              </a:ext>
            </a:extLst>
          </p:cNvPr>
          <p:cNvSpPr>
            <a:spLocks noGrp="1"/>
          </p:cNvSpPr>
          <p:nvPr>
            <p:ph type="ctrTitle"/>
          </p:nvPr>
        </p:nvSpPr>
        <p:spPr>
          <a:xfrm>
            <a:off x="1375983" y="1997214"/>
            <a:ext cx="9440034" cy="1541219"/>
          </a:xfrm>
          <a:effectLst>
            <a:innerShdw blurRad="114300">
              <a:prstClr val="black"/>
            </a:innerShdw>
          </a:effectLst>
        </p:spPr>
        <p:txBody>
          <a:bodyPr>
            <a:normAutofit/>
          </a:bodyPr>
          <a:lstStyle/>
          <a:p>
            <a:r>
              <a:rPr lang="en-US" sz="8800" b="1" dirty="0">
                <a:solidFill>
                  <a:srgbClr val="FF6699"/>
                </a:solidFill>
                <a:effectLst/>
              </a:rPr>
              <a:t>Thank you!!</a:t>
            </a:r>
          </a:p>
        </p:txBody>
      </p:sp>
      <p:sp>
        <p:nvSpPr>
          <p:cNvPr id="4" name="Slide Number Placeholder 3">
            <a:extLst>
              <a:ext uri="{FF2B5EF4-FFF2-40B4-BE49-F238E27FC236}">
                <a16:creationId xmlns:a16="http://schemas.microsoft.com/office/drawing/2014/main" id="{1BB0BF5C-057F-7C9A-C59F-3BF83E1FB2FE}"/>
              </a:ext>
            </a:extLst>
          </p:cNvPr>
          <p:cNvSpPr>
            <a:spLocks noGrp="1"/>
          </p:cNvSpPr>
          <p:nvPr>
            <p:ph type="sldNum" sz="quarter" idx="12"/>
          </p:nvPr>
        </p:nvSpPr>
        <p:spPr/>
        <p:txBody>
          <a:bodyPr/>
          <a:lstStyle/>
          <a:p>
            <a:fld id="{3A98EE3D-8CD1-4C3F-BD1C-C98C9596463C}" type="slidenum">
              <a:rPr lang="en-US" smtClean="0"/>
              <a:pPr/>
              <a:t>17</a:t>
            </a:fld>
            <a:endParaRPr lang="en-US" dirty="0"/>
          </a:p>
        </p:txBody>
      </p:sp>
    </p:spTree>
    <p:extLst>
      <p:ext uri="{BB962C8B-B14F-4D97-AF65-F5344CB8AC3E}">
        <p14:creationId xmlns:p14="http://schemas.microsoft.com/office/powerpoint/2010/main" val="2040907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ustom 35">
      <a:dk1>
        <a:sysClr val="windowText" lastClr="000000"/>
      </a:dk1>
      <a:lt1>
        <a:sysClr val="window" lastClr="FFFFFF"/>
      </a:lt1>
      <a:dk2>
        <a:srgbClr val="4E3B30"/>
      </a:dk2>
      <a:lt2>
        <a:srgbClr val="F4EDD8"/>
      </a:lt2>
      <a:accent1>
        <a:srgbClr val="F0A22E"/>
      </a:accent1>
      <a:accent2>
        <a:srgbClr val="A5644E"/>
      </a:accent2>
      <a:accent3>
        <a:srgbClr val="B58B80"/>
      </a:accent3>
      <a:accent4>
        <a:srgbClr val="C3986D"/>
      </a:accent4>
      <a:accent5>
        <a:srgbClr val="A19574"/>
      </a:accent5>
      <a:accent6>
        <a:srgbClr val="C17529"/>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VTI" id="{35C4A07C-0176-4A32-9BCB-B016516853F0}" vid="{9B70D35C-BCA8-4715-BB49-8BE54A7FC0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2">
    <a:dk1>
      <a:sysClr val="windowText" lastClr="000000"/>
    </a:dk1>
    <a:lt1>
      <a:sysClr val="window" lastClr="FFFFFF"/>
    </a:lt1>
    <a:dk2>
      <a:srgbClr val="454551"/>
    </a:dk2>
    <a:lt2>
      <a:srgbClr val="E3E3E5"/>
    </a:lt2>
    <a:accent1>
      <a:srgbClr val="FE09E3"/>
    </a:accent1>
    <a:accent2>
      <a:srgbClr val="00ACF5"/>
    </a:accent2>
    <a:accent3>
      <a:srgbClr val="55CB72"/>
    </a:accent3>
    <a:accent4>
      <a:srgbClr val="EFC926"/>
    </a:accent4>
    <a:accent5>
      <a:srgbClr val="969696"/>
    </a:accent5>
    <a:accent6>
      <a:srgbClr val="D54773"/>
    </a:accent6>
    <a:hlink>
      <a:srgbClr val="6B9F25"/>
    </a:hlink>
    <a:folHlink>
      <a:srgbClr val="8C8C8C"/>
    </a:folHlink>
  </a:clrScheme>
</a:themeOverride>
</file>

<file path=ppt/theme/themeOverride2.xml><?xml version="1.0" encoding="utf-8"?>
<a:themeOverride xmlns:a="http://schemas.openxmlformats.org/drawingml/2006/main">
  <a:clrScheme name="Custom 42">
    <a:dk1>
      <a:sysClr val="windowText" lastClr="000000"/>
    </a:dk1>
    <a:lt1>
      <a:sysClr val="window" lastClr="FFFFFF"/>
    </a:lt1>
    <a:dk2>
      <a:srgbClr val="454551"/>
    </a:dk2>
    <a:lt2>
      <a:srgbClr val="E3E3E5"/>
    </a:lt2>
    <a:accent1>
      <a:srgbClr val="FE09E3"/>
    </a:accent1>
    <a:accent2>
      <a:srgbClr val="00ACF5"/>
    </a:accent2>
    <a:accent3>
      <a:srgbClr val="55CB72"/>
    </a:accent3>
    <a:accent4>
      <a:srgbClr val="EFC926"/>
    </a:accent4>
    <a:accent5>
      <a:srgbClr val="969696"/>
    </a:accent5>
    <a:accent6>
      <a:srgbClr val="D54773"/>
    </a:accent6>
    <a:hlink>
      <a:srgbClr val="6B9F25"/>
    </a:hlink>
    <a:folHlink>
      <a:srgbClr val="8C8C8C"/>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CC670F-05B9-4BB7-BA2C-0DE5B5C1E5D3}">
  <ds:schemaRefs>
    <ds:schemaRef ds:uri="http://schemas.microsoft.com/sharepoint/v3/contenttype/forms"/>
  </ds:schemaRefs>
</ds:datastoreItem>
</file>

<file path=customXml/itemProps2.xml><?xml version="1.0" encoding="utf-8"?>
<ds:datastoreItem xmlns:ds="http://schemas.openxmlformats.org/officeDocument/2006/customXml" ds:itemID="{02A3AD49-9331-450C-A2FE-6857A4DB38C6}">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89B453C-F2B2-4ECA-A6ED-7DBEF1B6D38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{530604B8-E3F0-45A5-8CE6-83EBA694EF17}tf00934815_win32</Template>
  <TotalTime>3204</TotalTime>
  <Words>861</Words>
  <Application>Microsoft Office PowerPoint</Application>
  <PresentationFormat>Widescreen</PresentationFormat>
  <Paragraphs>80</Paragraphs>
  <Slides>17</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Goudy Old Style</vt:lpstr>
      <vt:lpstr>system-ui</vt:lpstr>
      <vt:lpstr>Wingdings 2</vt:lpstr>
      <vt:lpstr>SlateVTI</vt:lpstr>
      <vt:lpstr>Session 2 Image Processing</vt:lpstr>
      <vt:lpstr>Today, We will talk about: </vt:lpstr>
      <vt:lpstr>Why they’re important in our life?</vt:lpstr>
      <vt:lpstr>First of All, Let’s define what is kernel Convolution?</vt:lpstr>
      <vt:lpstr>A small Animation for what happens </vt:lpstr>
      <vt:lpstr>What is Blurring? As You let each pixel’s value blend into the pixel’s next to it. When you blur an image, You’re setting a pixel’s value to no longer be independent ,but be the average of the pixel’s values around it in a local neighborhood.</vt:lpstr>
      <vt:lpstr>What is the importance of blurring?</vt:lpstr>
      <vt:lpstr>Types of Blurring</vt:lpstr>
      <vt:lpstr>But , We Focus Mainly on Gaussian Blur As it is the MOST USED!!</vt:lpstr>
      <vt:lpstr>So, Now let’s talk about sharpening</vt:lpstr>
      <vt:lpstr>What is Sharpening?</vt:lpstr>
      <vt:lpstr>What is the importance of sharpening?</vt:lpstr>
      <vt:lpstr>Finally, It is time for Edge Detection!</vt:lpstr>
      <vt:lpstr>What is Edge Detection?</vt:lpstr>
      <vt:lpstr>Sobel Filter</vt:lpstr>
      <vt:lpstr>Canny Filter</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reem ahmed</dc:creator>
  <cp:lastModifiedBy>reem ahmed</cp:lastModifiedBy>
  <cp:revision>3</cp:revision>
  <dcterms:created xsi:type="dcterms:W3CDTF">2024-08-22T13:21:11Z</dcterms:created>
  <dcterms:modified xsi:type="dcterms:W3CDTF">2024-08-30T23:19:43Z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